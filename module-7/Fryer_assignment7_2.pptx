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D5A7-B216-9604-2CEA-A04DD7156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A7835-BD0E-BD27-9C6D-014CA8FF9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39B6-5455-AD13-BECB-246D0CDAC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830A-AE25-A85A-07F8-15699481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F0ED4-09EA-F417-D38B-E6588FAD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4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EB21-805F-322A-C89B-36C04D40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A454-1C16-DF07-EA24-BBEC6611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FF933-7F8A-1591-6DCF-19F039AA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7E41F-CFFE-295D-AF46-8A2C1E1F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E7650-B2D8-AB03-5CE3-0CA249BE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9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E00B-83DA-25DD-52AE-49142396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3C17B-A2E5-1E0E-D419-695775352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D069-30C6-CF5F-5965-D8F5D662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A0FA4-0CF7-EA5C-5733-440DDF3F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B8895-18B4-074E-F535-CA062295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7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8387-6C29-AEDA-5DF1-592B2AD5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CC37-1889-2A15-6581-28115A318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77240-B2D5-B80D-A095-AFDC01E9C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A99DC-8EF8-01E9-EA40-84286B60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1B656-E525-E13D-5860-84E70DCB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A62B-403C-539E-BB48-F7B3FB03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2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98B9-CC26-1C9B-EA0C-E3904136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4B1D-109D-9704-FE2B-C6E8BD34C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A10EB-916F-8CEF-F217-9BABF1D84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73F74-98E5-E6A5-7C0A-8435834AA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646E0-D715-93C7-2C58-1AB338BFB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E142F3-509D-54AB-0DCE-46B94E8C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8E81E-A998-0CDA-7344-2168FE0DD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A3D25-6299-28C8-C1CA-D07DDFEB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2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FB4D-0143-3BDE-0012-34586C7D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D8BAA-4742-490E-6824-5AE86340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7978F-0A06-E53F-9D4E-B4C74308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465F6-5CE1-FC4A-9912-A9C652FC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3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39FB8-0D80-75FD-679C-DCB7F2ED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1DA8E-BB0F-53AC-73EF-355B0E10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32C08-111F-09E3-57D1-75CE48F9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5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D843-B233-BCD2-93BD-58BBB278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08E5-21AC-5445-0BD1-7609CA5B9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06F52-6F12-E556-3117-046028822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871B1-1D02-37BC-7DA4-409B6AFA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D94A3-C9A8-223A-C26A-9194B805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71080-9BFC-728E-CB3F-31E11E37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2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0F88-C833-8A6C-2071-C3D3E98B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26C1F-F69C-45AA-1C9C-2B6D11152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E0FB8-0FDC-9FA0-A8B9-B644EF733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1F9D-9662-7E62-8B6A-DCA405DE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2A87A-2EDB-DF68-FA93-5B809CFB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76E8A-34A8-F278-ABC9-BF0B0F86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3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0CFA-D9D2-E41E-04FF-F0B40D64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64E59-B6A3-D4F1-09CE-881048BA9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E5AF-EB61-EC76-2790-9400571F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BB2A-B8AA-8067-44DF-85B2893F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248F-3860-83D6-58ED-BBAC9895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7CA8D-A949-C6D2-9249-1AB986847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A4477-9EF7-8E2C-50EB-5CAE5FF47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62A3-C99E-36A6-4B7B-DC925CCC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5764-FD41-7F38-EB63-98654D2EF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1689-FA1B-F080-0937-AA5E162A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2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E2947-E2F6-8ABD-C55A-4DF3871B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0DE53-40CC-C55B-1AB1-5654EE238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6C7D-8BE7-F723-1F47-16DF874A1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4E340-4A0F-4EF1-8EAB-1466839207E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DE9E-D009-3407-F279-288ED0D43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F0D16-238F-5689-941C-2F5D9E7CC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6D169-C1A6-4241-9A73-82FDB260D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9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devops.com/on-call-rotation-best-practices-reducing-burnout-and-improving-respons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50E-D929-37F6-89B3-3025A4F3E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6815"/>
            <a:ext cx="9144000" cy="983148"/>
          </a:xfrm>
          <a:solidFill>
            <a:schemeClr val="accent2"/>
          </a:solidFill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38D78-5FB9-BD82-1660-32355317A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ighlight>
                  <a:srgbClr val="808080"/>
                </a:highlight>
              </a:rPr>
              <a:t>Daniel Fryer</a:t>
            </a:r>
          </a:p>
          <a:p>
            <a:r>
              <a:rPr lang="en-US" dirty="0">
                <a:highlight>
                  <a:srgbClr val="808080"/>
                </a:highlight>
              </a:rPr>
              <a:t>Assignment 7.2</a:t>
            </a:r>
          </a:p>
          <a:p>
            <a:r>
              <a:rPr lang="en-US" dirty="0">
                <a:highlight>
                  <a:srgbClr val="808080"/>
                </a:highlight>
              </a:rPr>
              <a:t>9/18/20026</a:t>
            </a:r>
          </a:p>
        </p:txBody>
      </p:sp>
    </p:spTree>
    <p:extLst>
      <p:ext uri="{BB962C8B-B14F-4D97-AF65-F5344CB8AC3E}">
        <p14:creationId xmlns:p14="http://schemas.microsoft.com/office/powerpoint/2010/main" val="397241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067E-EC24-9B2B-3934-156498CDFF7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What is an On-Call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4DC0C-70E9-1F47-F6BD-6B3633FD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9621"/>
          </a:xfrm>
        </p:spPr>
        <p:txBody>
          <a:bodyPr/>
          <a:lstStyle/>
          <a:p>
            <a:r>
              <a:rPr lang="en-US" dirty="0"/>
              <a:t>This is a predefined schedule that tells people who is responsible for critical incidents during specific times.</a:t>
            </a:r>
          </a:p>
          <a:p>
            <a:r>
              <a:rPr lang="en-US" dirty="0"/>
              <a:t>Coverage times may include days, nights, weekends, holidays.</a:t>
            </a:r>
          </a:p>
          <a:p>
            <a:r>
              <a:rPr lang="en-US" dirty="0"/>
              <a:t>There should be a primary and secondary responders.</a:t>
            </a:r>
          </a:p>
          <a:p>
            <a:r>
              <a:rPr lang="en-US" dirty="0"/>
              <a:t>The team should have clear ownership and escalation path.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AC0E15-0828-B573-76D0-27827EC6D000}"/>
              </a:ext>
            </a:extLst>
          </p:cNvPr>
          <p:cNvSpPr/>
          <p:nvPr/>
        </p:nvSpPr>
        <p:spPr>
          <a:xfrm>
            <a:off x="356992" y="4941518"/>
            <a:ext cx="4154466" cy="1164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responder – responsible to be the first to respond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891D15-BD37-B124-AFE3-171C91EF8FA8}"/>
              </a:ext>
            </a:extLst>
          </p:cNvPr>
          <p:cNvSpPr/>
          <p:nvPr/>
        </p:nvSpPr>
        <p:spPr>
          <a:xfrm>
            <a:off x="6263014" y="4941518"/>
            <a:ext cx="4386197" cy="11649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responder – Back up to the primary. Will step in if the primary is unavailable or needs assistance.</a:t>
            </a:r>
          </a:p>
        </p:txBody>
      </p:sp>
    </p:spTree>
    <p:extLst>
      <p:ext uri="{BB962C8B-B14F-4D97-AF65-F5344CB8AC3E}">
        <p14:creationId xmlns:p14="http://schemas.microsoft.com/office/powerpoint/2010/main" val="307661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9F9B-459F-B6F3-A734-2AD8C9A8E6E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en-US" dirty="0"/>
              <a:t>Structuring a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3B1D9-6EDC-BA61-DB1D-CB276B80CC6E}"/>
              </a:ext>
            </a:extLst>
          </p:cNvPr>
          <p:cNvSpPr/>
          <p:nvPr/>
        </p:nvSpPr>
        <p:spPr>
          <a:xfrm>
            <a:off x="338203" y="1816274"/>
            <a:ext cx="3576181" cy="1816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Weekly rotation:</a:t>
            </a:r>
          </a:p>
          <a:p>
            <a:pPr algn="ctr"/>
            <a:r>
              <a:rPr lang="en-US" dirty="0"/>
              <a:t>One person is the primary for usually 1 week. Works well with small to mid size teams.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DD050-A51A-FDB0-D2BE-CD2186BB8C3F}"/>
              </a:ext>
            </a:extLst>
          </p:cNvPr>
          <p:cNvSpPr/>
          <p:nvPr/>
        </p:nvSpPr>
        <p:spPr>
          <a:xfrm>
            <a:off x="4307909" y="1816274"/>
            <a:ext cx="3576181" cy="18162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Follow-the-Sun:</a:t>
            </a:r>
          </a:p>
          <a:p>
            <a:pPr algn="ctr"/>
            <a:r>
              <a:rPr lang="en-US" dirty="0"/>
              <a:t>This rotation works with teams spread across different time zones. Requires teams in different locations so having a strong hand off is important.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6E464-8E2B-CC03-A5C7-EC8EF3327821}"/>
              </a:ext>
            </a:extLst>
          </p:cNvPr>
          <p:cNvSpPr/>
          <p:nvPr/>
        </p:nvSpPr>
        <p:spPr>
          <a:xfrm>
            <a:off x="8277616" y="1816274"/>
            <a:ext cx="3576181" cy="18162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Round Robin:</a:t>
            </a:r>
          </a:p>
          <a:p>
            <a:pPr algn="ctr"/>
            <a:r>
              <a:rPr lang="en-US" dirty="0"/>
              <a:t>This rotation cycles through on call personal in a fixed order. This rotation will give more opportunities for developers to experience critical issues.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BE845F-9BDB-611B-836A-D1B02005E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799"/>
            <a:ext cx="10515600" cy="2062163"/>
          </a:xfrm>
        </p:spPr>
        <p:txBody>
          <a:bodyPr/>
          <a:lstStyle/>
          <a:p>
            <a:r>
              <a:rPr lang="en-US" dirty="0"/>
              <a:t>Rotation should be based on team size and workloads.</a:t>
            </a:r>
          </a:p>
          <a:p>
            <a:r>
              <a:rPr lang="en-US" dirty="0"/>
              <a:t>There should be a plan in place for time off and schedule changes.</a:t>
            </a:r>
          </a:p>
          <a:p>
            <a:r>
              <a:rPr lang="en-US" dirty="0"/>
              <a:t>Have a process in place for handoffs.</a:t>
            </a:r>
          </a:p>
        </p:txBody>
      </p:sp>
    </p:spTree>
    <p:extLst>
      <p:ext uri="{BB962C8B-B14F-4D97-AF65-F5344CB8AC3E}">
        <p14:creationId xmlns:p14="http://schemas.microsoft.com/office/powerpoint/2010/main" val="633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57B4-CB40-5FE2-65DF-024CF3CE28F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On Call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A72D-A97A-3D63-19A6-35828177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 incidents load per shift – if the on-call incidents exceed the threshold review the alerting stack.</a:t>
            </a:r>
          </a:p>
          <a:p>
            <a:r>
              <a:rPr lang="en-US" dirty="0"/>
              <a:t>Standardize the hand off process – Have a clean hand off by having a 30 min meeting weekly between the new primary pass on what issues the off going primary ran into.</a:t>
            </a:r>
          </a:p>
          <a:p>
            <a:r>
              <a:rPr lang="en-US" dirty="0"/>
              <a:t>Have and maintain a Runbook for the top incidents – specific tasks to fix critical issues so people are not having to find each time they run into common issues.</a:t>
            </a:r>
          </a:p>
          <a:p>
            <a:r>
              <a:rPr lang="en-US" dirty="0"/>
              <a:t>Have a shadow rotation for new coverage employees – This helps new employees learn how the handle being in the rotation.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3C6D-E76B-E4B8-F600-BF18D001A05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On Call Best Practices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85C60-EA12-ACCD-709C-C771B925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 the 4 key metrics – MTTR(Mean Time to Repair), Alter Volume, On-Call Load Distribution, and Incident recurrence rate</a:t>
            </a:r>
          </a:p>
          <a:p>
            <a:r>
              <a:rPr lang="en-US" dirty="0"/>
              <a:t>Compensate on-call fairly – there is interruptions to people’s lives so they should be compensated accordingly.</a:t>
            </a:r>
          </a:p>
          <a:p>
            <a:r>
              <a:rPr lang="en-US" dirty="0"/>
              <a:t>Postmortem follow-up – Without holding blame investigate what went wrong and how it can be prevented or resolved faster.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8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0CC3-6BEC-390E-8865-83FBF28778B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Example of What an Incident Would Look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77FEA-34E5-B96D-6482-5CBA775A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alert fires – Something broke or customer submits a critical issue</a:t>
            </a:r>
          </a:p>
          <a:p>
            <a:r>
              <a:rPr lang="en-US" dirty="0"/>
              <a:t>Triage – Primary responder checks the logs and the runbook.</a:t>
            </a:r>
          </a:p>
          <a:p>
            <a:r>
              <a:rPr lang="en-US" dirty="0"/>
              <a:t>Escalate if needed – Call in secondary or follow the escalation if issue is taking more time then allowed for the issue.</a:t>
            </a:r>
          </a:p>
          <a:p>
            <a:r>
              <a:rPr lang="en-US" dirty="0"/>
              <a:t>Restore Service – return the service back over to production and let it continue to run.</a:t>
            </a:r>
          </a:p>
          <a:p>
            <a:r>
              <a:rPr lang="en-US" dirty="0"/>
              <a:t>Follow up – When the team is next back together have a postmortem and see if there is a root cause that can have a task created for it.</a:t>
            </a:r>
          </a:p>
        </p:txBody>
      </p:sp>
    </p:spTree>
    <p:extLst>
      <p:ext uri="{BB962C8B-B14F-4D97-AF65-F5344CB8AC3E}">
        <p14:creationId xmlns:p14="http://schemas.microsoft.com/office/powerpoint/2010/main" val="181189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BDF5-6897-7921-3E9F-EC51EFFD743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CE4C-9A61-A128-4BE4-BD3F0B6F2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1075"/>
          </a:xfrm>
        </p:spPr>
        <p:txBody>
          <a:bodyPr/>
          <a:lstStyle/>
          <a:p>
            <a:r>
              <a:rPr lang="en-US" dirty="0"/>
              <a:t>Have a clear ownership during off hours can reduce downtime.</a:t>
            </a:r>
          </a:p>
          <a:p>
            <a:r>
              <a:rPr lang="en-US" dirty="0"/>
              <a:t>A fair schedule can reduce burnout of the development team.</a:t>
            </a:r>
          </a:p>
          <a:p>
            <a:r>
              <a:rPr lang="en-US" dirty="0"/>
              <a:t>Having metrics that can be tracked over time can help everyone learn the system better and improve uptime.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20065-1B60-D20D-D00F-ED37F2E6859C}"/>
              </a:ext>
            </a:extLst>
          </p:cNvPr>
          <p:cNvSpPr txBox="1">
            <a:spLocks/>
          </p:cNvSpPr>
          <p:nvPr/>
        </p:nvSpPr>
        <p:spPr>
          <a:xfrm>
            <a:off x="838200" y="4809995"/>
            <a:ext cx="10515600" cy="1517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References: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https://devops.com/on-call-rotation-best-practices-reducing-burnout-and-improving-response/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https://www.pagerduty.com/resources/incident-management-response/learn/call-rotations-schedules/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5458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Calibri Light</vt:lpstr>
      <vt:lpstr>Office Theme</vt:lpstr>
      <vt:lpstr>Pager Rotation Duties</vt:lpstr>
      <vt:lpstr>What is an On-Call Rotation</vt:lpstr>
      <vt:lpstr>Structuring a Rotation</vt:lpstr>
      <vt:lpstr>On Call Best Practices</vt:lpstr>
      <vt:lpstr>On Call Best Practices Cont.</vt:lpstr>
      <vt:lpstr>Example of What an Incident Would Look Like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Fryer</dc:creator>
  <cp:lastModifiedBy>Daniel Fryer</cp:lastModifiedBy>
  <cp:revision>1</cp:revision>
  <dcterms:created xsi:type="dcterms:W3CDTF">2026-09-19T00:07:56Z</dcterms:created>
  <dcterms:modified xsi:type="dcterms:W3CDTF">2026-09-19T00:08:24Z</dcterms:modified>
</cp:coreProperties>
</file>