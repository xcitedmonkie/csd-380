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70" d="100"/>
          <a:sy n="70" d="100"/>
        </p:scale>
        <p:origin x="72" y="19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C96FF-45A7-E8AA-6258-FB9A8A106D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C45079B-8595-3AF1-225A-5DB9E5D580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6CBB15-C5FF-B408-BE23-477C53F82C8A}"/>
              </a:ext>
            </a:extLst>
          </p:cNvPr>
          <p:cNvSpPr>
            <a:spLocks noGrp="1"/>
          </p:cNvSpPr>
          <p:nvPr>
            <p:ph type="dt" sz="half" idx="10"/>
          </p:nvPr>
        </p:nvSpPr>
        <p:spPr/>
        <p:txBody>
          <a:bodyPr/>
          <a:lstStyle/>
          <a:p>
            <a:fld id="{7861008D-0F14-4E43-8843-3F712331EA3B}" type="datetimeFigureOut">
              <a:rPr lang="en-US" smtClean="0"/>
              <a:t>8/14/2026</a:t>
            </a:fld>
            <a:endParaRPr lang="en-US"/>
          </a:p>
        </p:txBody>
      </p:sp>
      <p:sp>
        <p:nvSpPr>
          <p:cNvPr id="5" name="Footer Placeholder 4">
            <a:extLst>
              <a:ext uri="{FF2B5EF4-FFF2-40B4-BE49-F238E27FC236}">
                <a16:creationId xmlns:a16="http://schemas.microsoft.com/office/drawing/2014/main" id="{4AFCD428-A5C3-7567-1103-DADB0A1547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407CDD-7272-3BED-FEC0-F174D1EA2B69}"/>
              </a:ext>
            </a:extLst>
          </p:cNvPr>
          <p:cNvSpPr>
            <a:spLocks noGrp="1"/>
          </p:cNvSpPr>
          <p:nvPr>
            <p:ph type="sldNum" sz="quarter" idx="12"/>
          </p:nvPr>
        </p:nvSpPr>
        <p:spPr/>
        <p:txBody>
          <a:bodyPr/>
          <a:lstStyle/>
          <a:p>
            <a:fld id="{72BEC54F-D073-42DD-9377-C666E2C3444F}" type="slidenum">
              <a:rPr lang="en-US" smtClean="0"/>
              <a:t>‹#›</a:t>
            </a:fld>
            <a:endParaRPr lang="en-US"/>
          </a:p>
        </p:txBody>
      </p:sp>
    </p:spTree>
    <p:extLst>
      <p:ext uri="{BB962C8B-B14F-4D97-AF65-F5344CB8AC3E}">
        <p14:creationId xmlns:p14="http://schemas.microsoft.com/office/powerpoint/2010/main" val="4027444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8158C-B5CB-9009-D417-D433436208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55BF17-F5FA-53C7-8EE0-0B2E77A8A4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2172D4-0FB9-9047-C630-3378DFD2068F}"/>
              </a:ext>
            </a:extLst>
          </p:cNvPr>
          <p:cNvSpPr>
            <a:spLocks noGrp="1"/>
          </p:cNvSpPr>
          <p:nvPr>
            <p:ph type="dt" sz="half" idx="10"/>
          </p:nvPr>
        </p:nvSpPr>
        <p:spPr/>
        <p:txBody>
          <a:bodyPr/>
          <a:lstStyle/>
          <a:p>
            <a:fld id="{7861008D-0F14-4E43-8843-3F712331EA3B}" type="datetimeFigureOut">
              <a:rPr lang="en-US" smtClean="0"/>
              <a:t>8/14/2026</a:t>
            </a:fld>
            <a:endParaRPr lang="en-US"/>
          </a:p>
        </p:txBody>
      </p:sp>
      <p:sp>
        <p:nvSpPr>
          <p:cNvPr id="5" name="Footer Placeholder 4">
            <a:extLst>
              <a:ext uri="{FF2B5EF4-FFF2-40B4-BE49-F238E27FC236}">
                <a16:creationId xmlns:a16="http://schemas.microsoft.com/office/drawing/2014/main" id="{47BBFE34-3A54-A36E-594F-4F8BE3259D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34F67B-9A30-5E7D-3CBD-9601942B04AA}"/>
              </a:ext>
            </a:extLst>
          </p:cNvPr>
          <p:cNvSpPr>
            <a:spLocks noGrp="1"/>
          </p:cNvSpPr>
          <p:nvPr>
            <p:ph type="sldNum" sz="quarter" idx="12"/>
          </p:nvPr>
        </p:nvSpPr>
        <p:spPr/>
        <p:txBody>
          <a:bodyPr/>
          <a:lstStyle/>
          <a:p>
            <a:fld id="{72BEC54F-D073-42DD-9377-C666E2C3444F}" type="slidenum">
              <a:rPr lang="en-US" smtClean="0"/>
              <a:t>‹#›</a:t>
            </a:fld>
            <a:endParaRPr lang="en-US"/>
          </a:p>
        </p:txBody>
      </p:sp>
    </p:spTree>
    <p:extLst>
      <p:ext uri="{BB962C8B-B14F-4D97-AF65-F5344CB8AC3E}">
        <p14:creationId xmlns:p14="http://schemas.microsoft.com/office/powerpoint/2010/main" val="2901968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730F7-732A-F56D-CF65-D26BE87799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E35BDF-88F4-3ADD-1DA9-D2991C3569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24B79D-0F2B-7DC1-F235-F569BEF7FD55}"/>
              </a:ext>
            </a:extLst>
          </p:cNvPr>
          <p:cNvSpPr>
            <a:spLocks noGrp="1"/>
          </p:cNvSpPr>
          <p:nvPr>
            <p:ph type="dt" sz="half" idx="10"/>
          </p:nvPr>
        </p:nvSpPr>
        <p:spPr/>
        <p:txBody>
          <a:bodyPr/>
          <a:lstStyle/>
          <a:p>
            <a:fld id="{7861008D-0F14-4E43-8843-3F712331EA3B}" type="datetimeFigureOut">
              <a:rPr lang="en-US" smtClean="0"/>
              <a:t>8/14/2026</a:t>
            </a:fld>
            <a:endParaRPr lang="en-US"/>
          </a:p>
        </p:txBody>
      </p:sp>
      <p:sp>
        <p:nvSpPr>
          <p:cNvPr id="5" name="Footer Placeholder 4">
            <a:extLst>
              <a:ext uri="{FF2B5EF4-FFF2-40B4-BE49-F238E27FC236}">
                <a16:creationId xmlns:a16="http://schemas.microsoft.com/office/drawing/2014/main" id="{B96B96C7-0C87-128B-0F19-49C23AC7E5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579011-BD5D-EF0E-AD13-FCC172ED4740}"/>
              </a:ext>
            </a:extLst>
          </p:cNvPr>
          <p:cNvSpPr>
            <a:spLocks noGrp="1"/>
          </p:cNvSpPr>
          <p:nvPr>
            <p:ph type="sldNum" sz="quarter" idx="12"/>
          </p:nvPr>
        </p:nvSpPr>
        <p:spPr/>
        <p:txBody>
          <a:bodyPr/>
          <a:lstStyle/>
          <a:p>
            <a:fld id="{72BEC54F-D073-42DD-9377-C666E2C3444F}" type="slidenum">
              <a:rPr lang="en-US" smtClean="0"/>
              <a:t>‹#›</a:t>
            </a:fld>
            <a:endParaRPr lang="en-US"/>
          </a:p>
        </p:txBody>
      </p:sp>
    </p:spTree>
    <p:extLst>
      <p:ext uri="{BB962C8B-B14F-4D97-AF65-F5344CB8AC3E}">
        <p14:creationId xmlns:p14="http://schemas.microsoft.com/office/powerpoint/2010/main" val="3666951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1DF17-3778-F8CE-141B-1672E0B51F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0B371A-560E-E94B-C5FA-049774EEA4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2325F3-35B3-49FD-F2FE-D0A430F69F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A24A43-BB39-CFC1-1A6E-C1F975CE5662}"/>
              </a:ext>
            </a:extLst>
          </p:cNvPr>
          <p:cNvSpPr>
            <a:spLocks noGrp="1"/>
          </p:cNvSpPr>
          <p:nvPr>
            <p:ph type="dt" sz="half" idx="10"/>
          </p:nvPr>
        </p:nvSpPr>
        <p:spPr/>
        <p:txBody>
          <a:bodyPr/>
          <a:lstStyle/>
          <a:p>
            <a:fld id="{7861008D-0F14-4E43-8843-3F712331EA3B}" type="datetimeFigureOut">
              <a:rPr lang="en-US" smtClean="0"/>
              <a:t>8/14/2026</a:t>
            </a:fld>
            <a:endParaRPr lang="en-US"/>
          </a:p>
        </p:txBody>
      </p:sp>
      <p:sp>
        <p:nvSpPr>
          <p:cNvPr id="6" name="Footer Placeholder 5">
            <a:extLst>
              <a:ext uri="{FF2B5EF4-FFF2-40B4-BE49-F238E27FC236}">
                <a16:creationId xmlns:a16="http://schemas.microsoft.com/office/drawing/2014/main" id="{346CDE70-E747-EC2D-4056-0B8A66E8A8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45072C-A8EB-1C51-35A1-FBFBFC4ED26D}"/>
              </a:ext>
            </a:extLst>
          </p:cNvPr>
          <p:cNvSpPr>
            <a:spLocks noGrp="1"/>
          </p:cNvSpPr>
          <p:nvPr>
            <p:ph type="sldNum" sz="quarter" idx="12"/>
          </p:nvPr>
        </p:nvSpPr>
        <p:spPr/>
        <p:txBody>
          <a:bodyPr/>
          <a:lstStyle/>
          <a:p>
            <a:fld id="{72BEC54F-D073-42DD-9377-C666E2C3444F}" type="slidenum">
              <a:rPr lang="en-US" smtClean="0"/>
              <a:t>‹#›</a:t>
            </a:fld>
            <a:endParaRPr lang="en-US"/>
          </a:p>
        </p:txBody>
      </p:sp>
    </p:spTree>
    <p:extLst>
      <p:ext uri="{BB962C8B-B14F-4D97-AF65-F5344CB8AC3E}">
        <p14:creationId xmlns:p14="http://schemas.microsoft.com/office/powerpoint/2010/main" val="1580142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6A8C2-F3E8-91A1-58B4-E12C0E666B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9849BA-09C3-F705-F20B-4846DCB1BC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5FE500-7ADE-13F6-BDE2-1A2C700B74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2496E5-2750-68DD-DB6F-BE3B004D8A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E078F1-7397-53BF-4BDF-631E781431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06EF6F-A628-EC12-7BE1-2020F6D36840}"/>
              </a:ext>
            </a:extLst>
          </p:cNvPr>
          <p:cNvSpPr>
            <a:spLocks noGrp="1"/>
          </p:cNvSpPr>
          <p:nvPr>
            <p:ph type="dt" sz="half" idx="10"/>
          </p:nvPr>
        </p:nvSpPr>
        <p:spPr/>
        <p:txBody>
          <a:bodyPr/>
          <a:lstStyle/>
          <a:p>
            <a:fld id="{7861008D-0F14-4E43-8843-3F712331EA3B}" type="datetimeFigureOut">
              <a:rPr lang="en-US" smtClean="0"/>
              <a:t>8/14/2026</a:t>
            </a:fld>
            <a:endParaRPr lang="en-US"/>
          </a:p>
        </p:txBody>
      </p:sp>
      <p:sp>
        <p:nvSpPr>
          <p:cNvPr id="8" name="Footer Placeholder 7">
            <a:extLst>
              <a:ext uri="{FF2B5EF4-FFF2-40B4-BE49-F238E27FC236}">
                <a16:creationId xmlns:a16="http://schemas.microsoft.com/office/drawing/2014/main" id="{2A8087E7-04B9-EC22-CC07-41AC2605AD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A7F555-6D65-3C67-BE71-0C90CBAA72A3}"/>
              </a:ext>
            </a:extLst>
          </p:cNvPr>
          <p:cNvSpPr>
            <a:spLocks noGrp="1"/>
          </p:cNvSpPr>
          <p:nvPr>
            <p:ph type="sldNum" sz="quarter" idx="12"/>
          </p:nvPr>
        </p:nvSpPr>
        <p:spPr/>
        <p:txBody>
          <a:bodyPr/>
          <a:lstStyle/>
          <a:p>
            <a:fld id="{72BEC54F-D073-42DD-9377-C666E2C3444F}" type="slidenum">
              <a:rPr lang="en-US" smtClean="0"/>
              <a:t>‹#›</a:t>
            </a:fld>
            <a:endParaRPr lang="en-US"/>
          </a:p>
        </p:txBody>
      </p:sp>
    </p:spTree>
    <p:extLst>
      <p:ext uri="{BB962C8B-B14F-4D97-AF65-F5344CB8AC3E}">
        <p14:creationId xmlns:p14="http://schemas.microsoft.com/office/powerpoint/2010/main" val="4128603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B69F2-30D1-280E-FCC9-444007002F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C1F29A-6FFE-3B98-9371-58091D0137AC}"/>
              </a:ext>
            </a:extLst>
          </p:cNvPr>
          <p:cNvSpPr>
            <a:spLocks noGrp="1"/>
          </p:cNvSpPr>
          <p:nvPr>
            <p:ph type="dt" sz="half" idx="10"/>
          </p:nvPr>
        </p:nvSpPr>
        <p:spPr/>
        <p:txBody>
          <a:bodyPr/>
          <a:lstStyle/>
          <a:p>
            <a:fld id="{7861008D-0F14-4E43-8843-3F712331EA3B}" type="datetimeFigureOut">
              <a:rPr lang="en-US" smtClean="0"/>
              <a:t>8/14/2026</a:t>
            </a:fld>
            <a:endParaRPr lang="en-US"/>
          </a:p>
        </p:txBody>
      </p:sp>
      <p:sp>
        <p:nvSpPr>
          <p:cNvPr id="4" name="Footer Placeholder 3">
            <a:extLst>
              <a:ext uri="{FF2B5EF4-FFF2-40B4-BE49-F238E27FC236}">
                <a16:creationId xmlns:a16="http://schemas.microsoft.com/office/drawing/2014/main" id="{6E261314-2246-18E1-59DF-B7053810FF7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405283-22D8-19B1-F1A9-A451E9D94A45}"/>
              </a:ext>
            </a:extLst>
          </p:cNvPr>
          <p:cNvSpPr>
            <a:spLocks noGrp="1"/>
          </p:cNvSpPr>
          <p:nvPr>
            <p:ph type="sldNum" sz="quarter" idx="12"/>
          </p:nvPr>
        </p:nvSpPr>
        <p:spPr/>
        <p:txBody>
          <a:bodyPr/>
          <a:lstStyle/>
          <a:p>
            <a:fld id="{72BEC54F-D073-42DD-9377-C666E2C3444F}" type="slidenum">
              <a:rPr lang="en-US" smtClean="0"/>
              <a:t>‹#›</a:t>
            </a:fld>
            <a:endParaRPr lang="en-US"/>
          </a:p>
        </p:txBody>
      </p:sp>
    </p:spTree>
    <p:extLst>
      <p:ext uri="{BB962C8B-B14F-4D97-AF65-F5344CB8AC3E}">
        <p14:creationId xmlns:p14="http://schemas.microsoft.com/office/powerpoint/2010/main" val="1917853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30E6C3-421F-823F-0891-98A0E096E5C9}"/>
              </a:ext>
            </a:extLst>
          </p:cNvPr>
          <p:cNvSpPr>
            <a:spLocks noGrp="1"/>
          </p:cNvSpPr>
          <p:nvPr>
            <p:ph type="dt" sz="half" idx="10"/>
          </p:nvPr>
        </p:nvSpPr>
        <p:spPr/>
        <p:txBody>
          <a:bodyPr/>
          <a:lstStyle/>
          <a:p>
            <a:fld id="{7861008D-0F14-4E43-8843-3F712331EA3B}" type="datetimeFigureOut">
              <a:rPr lang="en-US" smtClean="0"/>
              <a:t>8/14/2026</a:t>
            </a:fld>
            <a:endParaRPr lang="en-US"/>
          </a:p>
        </p:txBody>
      </p:sp>
      <p:sp>
        <p:nvSpPr>
          <p:cNvPr id="3" name="Footer Placeholder 2">
            <a:extLst>
              <a:ext uri="{FF2B5EF4-FFF2-40B4-BE49-F238E27FC236}">
                <a16:creationId xmlns:a16="http://schemas.microsoft.com/office/drawing/2014/main" id="{1ACD2D97-FA39-71AD-E784-74230FE19E7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21AD66-A200-ED3D-5223-980AE31F8089}"/>
              </a:ext>
            </a:extLst>
          </p:cNvPr>
          <p:cNvSpPr>
            <a:spLocks noGrp="1"/>
          </p:cNvSpPr>
          <p:nvPr>
            <p:ph type="sldNum" sz="quarter" idx="12"/>
          </p:nvPr>
        </p:nvSpPr>
        <p:spPr/>
        <p:txBody>
          <a:bodyPr/>
          <a:lstStyle/>
          <a:p>
            <a:fld id="{72BEC54F-D073-42DD-9377-C666E2C3444F}" type="slidenum">
              <a:rPr lang="en-US" smtClean="0"/>
              <a:t>‹#›</a:t>
            </a:fld>
            <a:endParaRPr lang="en-US"/>
          </a:p>
        </p:txBody>
      </p:sp>
    </p:spTree>
    <p:extLst>
      <p:ext uri="{BB962C8B-B14F-4D97-AF65-F5344CB8AC3E}">
        <p14:creationId xmlns:p14="http://schemas.microsoft.com/office/powerpoint/2010/main" val="2876123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07921-5335-4920-30C1-25B65E3F55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5B269B-556E-DF46-9D99-EC4280F53E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FC096F-9648-FDC2-BE47-549CDB5DEC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365628-FCA5-3D36-8E5C-B28EF01E36FB}"/>
              </a:ext>
            </a:extLst>
          </p:cNvPr>
          <p:cNvSpPr>
            <a:spLocks noGrp="1"/>
          </p:cNvSpPr>
          <p:nvPr>
            <p:ph type="dt" sz="half" idx="10"/>
          </p:nvPr>
        </p:nvSpPr>
        <p:spPr/>
        <p:txBody>
          <a:bodyPr/>
          <a:lstStyle/>
          <a:p>
            <a:fld id="{7861008D-0F14-4E43-8843-3F712331EA3B}" type="datetimeFigureOut">
              <a:rPr lang="en-US" smtClean="0"/>
              <a:t>8/14/2026</a:t>
            </a:fld>
            <a:endParaRPr lang="en-US"/>
          </a:p>
        </p:txBody>
      </p:sp>
      <p:sp>
        <p:nvSpPr>
          <p:cNvPr id="6" name="Footer Placeholder 5">
            <a:extLst>
              <a:ext uri="{FF2B5EF4-FFF2-40B4-BE49-F238E27FC236}">
                <a16:creationId xmlns:a16="http://schemas.microsoft.com/office/drawing/2014/main" id="{508A002E-BD33-B866-BF7D-CCC767DDEA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C9EA6E-A637-EA80-E0BA-50F9B3CE1CE0}"/>
              </a:ext>
            </a:extLst>
          </p:cNvPr>
          <p:cNvSpPr>
            <a:spLocks noGrp="1"/>
          </p:cNvSpPr>
          <p:nvPr>
            <p:ph type="sldNum" sz="quarter" idx="12"/>
          </p:nvPr>
        </p:nvSpPr>
        <p:spPr/>
        <p:txBody>
          <a:bodyPr/>
          <a:lstStyle/>
          <a:p>
            <a:fld id="{72BEC54F-D073-42DD-9377-C666E2C3444F}" type="slidenum">
              <a:rPr lang="en-US" smtClean="0"/>
              <a:t>‹#›</a:t>
            </a:fld>
            <a:endParaRPr lang="en-US"/>
          </a:p>
        </p:txBody>
      </p:sp>
    </p:spTree>
    <p:extLst>
      <p:ext uri="{BB962C8B-B14F-4D97-AF65-F5344CB8AC3E}">
        <p14:creationId xmlns:p14="http://schemas.microsoft.com/office/powerpoint/2010/main" val="2915869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54750-0EAD-AC26-9EA3-B0FC9021D9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B8E7B5-04E5-619F-7A1F-87C23876D2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914CBC-0272-84B4-992B-6AEC401251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3EE883-F92C-1D61-E283-5BBE5C4D21EA}"/>
              </a:ext>
            </a:extLst>
          </p:cNvPr>
          <p:cNvSpPr>
            <a:spLocks noGrp="1"/>
          </p:cNvSpPr>
          <p:nvPr>
            <p:ph type="dt" sz="half" idx="10"/>
          </p:nvPr>
        </p:nvSpPr>
        <p:spPr/>
        <p:txBody>
          <a:bodyPr/>
          <a:lstStyle/>
          <a:p>
            <a:fld id="{7861008D-0F14-4E43-8843-3F712331EA3B}" type="datetimeFigureOut">
              <a:rPr lang="en-US" smtClean="0"/>
              <a:t>8/14/2026</a:t>
            </a:fld>
            <a:endParaRPr lang="en-US"/>
          </a:p>
        </p:txBody>
      </p:sp>
      <p:sp>
        <p:nvSpPr>
          <p:cNvPr id="6" name="Footer Placeholder 5">
            <a:extLst>
              <a:ext uri="{FF2B5EF4-FFF2-40B4-BE49-F238E27FC236}">
                <a16:creationId xmlns:a16="http://schemas.microsoft.com/office/drawing/2014/main" id="{342F4C87-1FE9-C5E5-0F46-492C059FDF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055452-7899-D104-C511-21769CBA6BAF}"/>
              </a:ext>
            </a:extLst>
          </p:cNvPr>
          <p:cNvSpPr>
            <a:spLocks noGrp="1"/>
          </p:cNvSpPr>
          <p:nvPr>
            <p:ph type="sldNum" sz="quarter" idx="12"/>
          </p:nvPr>
        </p:nvSpPr>
        <p:spPr/>
        <p:txBody>
          <a:bodyPr/>
          <a:lstStyle/>
          <a:p>
            <a:fld id="{72BEC54F-D073-42DD-9377-C666E2C3444F}" type="slidenum">
              <a:rPr lang="en-US" smtClean="0"/>
              <a:t>‹#›</a:t>
            </a:fld>
            <a:endParaRPr lang="en-US"/>
          </a:p>
        </p:txBody>
      </p:sp>
    </p:spTree>
    <p:extLst>
      <p:ext uri="{BB962C8B-B14F-4D97-AF65-F5344CB8AC3E}">
        <p14:creationId xmlns:p14="http://schemas.microsoft.com/office/powerpoint/2010/main" val="770876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16A2F-1944-E679-81DF-534BC744CA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A9BF40-BC44-AE43-95E9-07BC2F9DC7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8C0DE4-D0E7-4439-E3F3-9D1BD05A75EF}"/>
              </a:ext>
            </a:extLst>
          </p:cNvPr>
          <p:cNvSpPr>
            <a:spLocks noGrp="1"/>
          </p:cNvSpPr>
          <p:nvPr>
            <p:ph type="dt" sz="half" idx="10"/>
          </p:nvPr>
        </p:nvSpPr>
        <p:spPr/>
        <p:txBody>
          <a:bodyPr/>
          <a:lstStyle/>
          <a:p>
            <a:fld id="{7861008D-0F14-4E43-8843-3F712331EA3B}" type="datetimeFigureOut">
              <a:rPr lang="en-US" smtClean="0"/>
              <a:t>8/14/2026</a:t>
            </a:fld>
            <a:endParaRPr lang="en-US"/>
          </a:p>
        </p:txBody>
      </p:sp>
      <p:sp>
        <p:nvSpPr>
          <p:cNvPr id="5" name="Footer Placeholder 4">
            <a:extLst>
              <a:ext uri="{FF2B5EF4-FFF2-40B4-BE49-F238E27FC236}">
                <a16:creationId xmlns:a16="http://schemas.microsoft.com/office/drawing/2014/main" id="{C9E0D1B9-E35A-5423-3B26-68FDCF17B7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4879B4-195D-45CC-5EEA-3327BFA77170}"/>
              </a:ext>
            </a:extLst>
          </p:cNvPr>
          <p:cNvSpPr>
            <a:spLocks noGrp="1"/>
          </p:cNvSpPr>
          <p:nvPr>
            <p:ph type="sldNum" sz="quarter" idx="12"/>
          </p:nvPr>
        </p:nvSpPr>
        <p:spPr/>
        <p:txBody>
          <a:bodyPr/>
          <a:lstStyle/>
          <a:p>
            <a:fld id="{72BEC54F-D073-42DD-9377-C666E2C3444F}" type="slidenum">
              <a:rPr lang="en-US" smtClean="0"/>
              <a:t>‹#›</a:t>
            </a:fld>
            <a:endParaRPr lang="en-US"/>
          </a:p>
        </p:txBody>
      </p:sp>
    </p:spTree>
    <p:extLst>
      <p:ext uri="{BB962C8B-B14F-4D97-AF65-F5344CB8AC3E}">
        <p14:creationId xmlns:p14="http://schemas.microsoft.com/office/powerpoint/2010/main" val="3740075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8C3469-3937-DADE-9055-4AA26C1306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426BFA-7C4C-3DB2-6B9E-3A7B46BE7F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BB5DED-7150-DB44-C1A4-7E4ACFFAAA16}"/>
              </a:ext>
            </a:extLst>
          </p:cNvPr>
          <p:cNvSpPr>
            <a:spLocks noGrp="1"/>
          </p:cNvSpPr>
          <p:nvPr>
            <p:ph type="dt" sz="half" idx="10"/>
          </p:nvPr>
        </p:nvSpPr>
        <p:spPr/>
        <p:txBody>
          <a:bodyPr/>
          <a:lstStyle/>
          <a:p>
            <a:fld id="{7861008D-0F14-4E43-8843-3F712331EA3B}" type="datetimeFigureOut">
              <a:rPr lang="en-US" smtClean="0"/>
              <a:t>8/14/2026</a:t>
            </a:fld>
            <a:endParaRPr lang="en-US"/>
          </a:p>
        </p:txBody>
      </p:sp>
      <p:sp>
        <p:nvSpPr>
          <p:cNvPr id="5" name="Footer Placeholder 4">
            <a:extLst>
              <a:ext uri="{FF2B5EF4-FFF2-40B4-BE49-F238E27FC236}">
                <a16:creationId xmlns:a16="http://schemas.microsoft.com/office/drawing/2014/main" id="{E675F827-EFFE-EF8B-D141-8700A6F9F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EFA77-62EC-4DFB-E4C7-84E5DD6433BD}"/>
              </a:ext>
            </a:extLst>
          </p:cNvPr>
          <p:cNvSpPr>
            <a:spLocks noGrp="1"/>
          </p:cNvSpPr>
          <p:nvPr>
            <p:ph type="sldNum" sz="quarter" idx="12"/>
          </p:nvPr>
        </p:nvSpPr>
        <p:spPr/>
        <p:txBody>
          <a:bodyPr/>
          <a:lstStyle/>
          <a:p>
            <a:fld id="{72BEC54F-D073-42DD-9377-C666E2C3444F}" type="slidenum">
              <a:rPr lang="en-US" smtClean="0"/>
              <a:t>‹#›</a:t>
            </a:fld>
            <a:endParaRPr lang="en-US"/>
          </a:p>
        </p:txBody>
      </p:sp>
    </p:spTree>
    <p:extLst>
      <p:ext uri="{BB962C8B-B14F-4D97-AF65-F5344CB8AC3E}">
        <p14:creationId xmlns:p14="http://schemas.microsoft.com/office/powerpoint/2010/main" val="4062788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CF5AFA-CE5C-1A2F-0469-7E6C7BA63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1429DD-AC48-4A52-2121-DEB7D279D0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F0BB06-F397-B7BE-AA83-07E881E8B1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61008D-0F14-4E43-8843-3F712331EA3B}" type="datetimeFigureOut">
              <a:rPr lang="en-US" smtClean="0"/>
              <a:t>8/14/2026</a:t>
            </a:fld>
            <a:endParaRPr lang="en-US"/>
          </a:p>
        </p:txBody>
      </p:sp>
      <p:sp>
        <p:nvSpPr>
          <p:cNvPr id="5" name="Footer Placeholder 4">
            <a:extLst>
              <a:ext uri="{FF2B5EF4-FFF2-40B4-BE49-F238E27FC236}">
                <a16:creationId xmlns:a16="http://schemas.microsoft.com/office/drawing/2014/main" id="{95A7E072-BDB1-E311-2255-8D44AB9505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14DC7F6-95F5-7D69-1FEC-A8F59A09FE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BEC54F-D073-42DD-9377-C666E2C3444F}" type="slidenum">
              <a:rPr lang="en-US" smtClean="0"/>
              <a:t>‹#›</a:t>
            </a:fld>
            <a:endParaRPr lang="en-US"/>
          </a:p>
        </p:txBody>
      </p:sp>
    </p:spTree>
    <p:extLst>
      <p:ext uri="{BB962C8B-B14F-4D97-AF65-F5344CB8AC3E}">
        <p14:creationId xmlns:p14="http://schemas.microsoft.com/office/powerpoint/2010/main" val="10677896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8FDF6-DD8A-1234-00C8-E46BFB4C8434}"/>
              </a:ext>
            </a:extLst>
          </p:cNvPr>
          <p:cNvSpPr>
            <a:spLocks noGrp="1"/>
          </p:cNvSpPr>
          <p:nvPr>
            <p:ph type="ctrTitle"/>
          </p:nvPr>
        </p:nvSpPr>
        <p:spPr/>
        <p:txBody>
          <a:bodyPr/>
          <a:lstStyle/>
          <a:p>
            <a:r>
              <a:rPr lang="en-US" dirty="0"/>
              <a:t>The Technology Value Stream</a:t>
            </a:r>
          </a:p>
        </p:txBody>
      </p:sp>
      <p:sp>
        <p:nvSpPr>
          <p:cNvPr id="3" name="Subtitle 2">
            <a:extLst>
              <a:ext uri="{FF2B5EF4-FFF2-40B4-BE49-F238E27FC236}">
                <a16:creationId xmlns:a16="http://schemas.microsoft.com/office/drawing/2014/main" id="{122DBD6D-A3F4-953E-0539-CA9F53FA8199}"/>
              </a:ext>
            </a:extLst>
          </p:cNvPr>
          <p:cNvSpPr>
            <a:spLocks noGrp="1"/>
          </p:cNvSpPr>
          <p:nvPr>
            <p:ph type="subTitle" idx="1"/>
          </p:nvPr>
        </p:nvSpPr>
        <p:spPr/>
        <p:txBody>
          <a:bodyPr/>
          <a:lstStyle/>
          <a:p>
            <a:r>
              <a:rPr lang="en-US" dirty="0"/>
              <a:t>Daniel Fryer</a:t>
            </a:r>
          </a:p>
          <a:p>
            <a:r>
              <a:rPr lang="en-US" dirty="0"/>
              <a:t>Assignment 1.2</a:t>
            </a:r>
          </a:p>
          <a:p>
            <a:r>
              <a:rPr lang="en-US" dirty="0"/>
              <a:t>8/14/2026</a:t>
            </a:r>
          </a:p>
        </p:txBody>
      </p:sp>
    </p:spTree>
    <p:extLst>
      <p:ext uri="{BB962C8B-B14F-4D97-AF65-F5344CB8AC3E}">
        <p14:creationId xmlns:p14="http://schemas.microsoft.com/office/powerpoint/2010/main" val="1625774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5250FB4-7A06-AE97-8EA4-C7A3D82116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84C64-D834-95A5-F32C-C017BE9111E6}"/>
              </a:ext>
            </a:extLst>
          </p:cNvPr>
          <p:cNvSpPr>
            <a:spLocks noGrp="1"/>
          </p:cNvSpPr>
          <p:nvPr>
            <p:ph type="ctrTitle"/>
          </p:nvPr>
        </p:nvSpPr>
        <p:spPr>
          <a:xfrm>
            <a:off x="300252" y="406400"/>
            <a:ext cx="11464118" cy="1081206"/>
          </a:xfrm>
        </p:spPr>
        <p:txBody>
          <a:bodyPr/>
          <a:lstStyle/>
          <a:p>
            <a:r>
              <a:rPr lang="en-US" dirty="0"/>
              <a:t>What is the technology value stream</a:t>
            </a:r>
          </a:p>
        </p:txBody>
      </p:sp>
      <p:sp>
        <p:nvSpPr>
          <p:cNvPr id="3" name="Subtitle 2">
            <a:extLst>
              <a:ext uri="{FF2B5EF4-FFF2-40B4-BE49-F238E27FC236}">
                <a16:creationId xmlns:a16="http://schemas.microsoft.com/office/drawing/2014/main" id="{23BD03AC-07D2-0B77-7C2A-0928071CAECD}"/>
              </a:ext>
            </a:extLst>
          </p:cNvPr>
          <p:cNvSpPr>
            <a:spLocks noGrp="1"/>
          </p:cNvSpPr>
          <p:nvPr>
            <p:ph type="subTitle" idx="1"/>
          </p:nvPr>
        </p:nvSpPr>
        <p:spPr>
          <a:xfrm>
            <a:off x="473122" y="1773238"/>
            <a:ext cx="11291248" cy="1081206"/>
          </a:xfrm>
        </p:spPr>
        <p:txBody>
          <a:bodyPr/>
          <a:lstStyle/>
          <a:p>
            <a:r>
              <a:rPr lang="en-US" dirty="0"/>
              <a:t>This is the process required to take a business idea and turn it into something the customer can actually use.</a:t>
            </a:r>
          </a:p>
        </p:txBody>
      </p:sp>
      <p:sp>
        <p:nvSpPr>
          <p:cNvPr id="4" name="Oval 3">
            <a:extLst>
              <a:ext uri="{FF2B5EF4-FFF2-40B4-BE49-F238E27FC236}">
                <a16:creationId xmlns:a16="http://schemas.microsoft.com/office/drawing/2014/main" id="{87CE29A7-3BED-CB92-4C4E-224419E1C586}"/>
              </a:ext>
            </a:extLst>
          </p:cNvPr>
          <p:cNvSpPr/>
          <p:nvPr/>
        </p:nvSpPr>
        <p:spPr>
          <a:xfrm>
            <a:off x="395219" y="3246460"/>
            <a:ext cx="1348856" cy="9416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Idea</a:t>
            </a:r>
          </a:p>
        </p:txBody>
      </p:sp>
      <p:sp>
        <p:nvSpPr>
          <p:cNvPr id="5" name="Arrow: Right 4">
            <a:extLst>
              <a:ext uri="{FF2B5EF4-FFF2-40B4-BE49-F238E27FC236}">
                <a16:creationId xmlns:a16="http://schemas.microsoft.com/office/drawing/2014/main" id="{0F5ADED0-3CC8-A7E8-796A-3CF5BFB4B9A4}"/>
              </a:ext>
            </a:extLst>
          </p:cNvPr>
          <p:cNvSpPr/>
          <p:nvPr/>
        </p:nvSpPr>
        <p:spPr>
          <a:xfrm>
            <a:off x="1924055" y="3507473"/>
            <a:ext cx="576616" cy="4196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5E0842C-260A-23EA-A53F-437880DB860C}"/>
              </a:ext>
            </a:extLst>
          </p:cNvPr>
          <p:cNvSpPr/>
          <p:nvPr/>
        </p:nvSpPr>
        <p:spPr>
          <a:xfrm>
            <a:off x="2577722" y="3243048"/>
            <a:ext cx="2053988" cy="9416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Development</a:t>
            </a:r>
          </a:p>
        </p:txBody>
      </p:sp>
      <p:sp>
        <p:nvSpPr>
          <p:cNvPr id="7" name="Oval 6">
            <a:extLst>
              <a:ext uri="{FF2B5EF4-FFF2-40B4-BE49-F238E27FC236}">
                <a16:creationId xmlns:a16="http://schemas.microsoft.com/office/drawing/2014/main" id="{A4946FEF-7C8D-69DC-8F37-4E90A5C3A694}"/>
              </a:ext>
            </a:extLst>
          </p:cNvPr>
          <p:cNvSpPr/>
          <p:nvPr/>
        </p:nvSpPr>
        <p:spPr>
          <a:xfrm>
            <a:off x="5204631" y="3243048"/>
            <a:ext cx="1458035" cy="9416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Test</a:t>
            </a:r>
          </a:p>
        </p:txBody>
      </p:sp>
      <p:sp>
        <p:nvSpPr>
          <p:cNvPr id="8" name="Oval 7">
            <a:extLst>
              <a:ext uri="{FF2B5EF4-FFF2-40B4-BE49-F238E27FC236}">
                <a16:creationId xmlns:a16="http://schemas.microsoft.com/office/drawing/2014/main" id="{EFBA481C-14BD-D0DB-391D-3904B3FAD7ED}"/>
              </a:ext>
            </a:extLst>
          </p:cNvPr>
          <p:cNvSpPr/>
          <p:nvPr/>
        </p:nvSpPr>
        <p:spPr>
          <a:xfrm>
            <a:off x="7349319" y="3243048"/>
            <a:ext cx="1458035" cy="9416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Deploy</a:t>
            </a:r>
          </a:p>
        </p:txBody>
      </p:sp>
      <p:sp>
        <p:nvSpPr>
          <p:cNvPr id="9" name="Oval 8">
            <a:extLst>
              <a:ext uri="{FF2B5EF4-FFF2-40B4-BE49-F238E27FC236}">
                <a16:creationId xmlns:a16="http://schemas.microsoft.com/office/drawing/2014/main" id="{3F7A1588-EBD6-044B-AD30-C2F2BE149076}"/>
              </a:ext>
            </a:extLst>
          </p:cNvPr>
          <p:cNvSpPr/>
          <p:nvPr/>
        </p:nvSpPr>
        <p:spPr>
          <a:xfrm>
            <a:off x="9504243" y="3243048"/>
            <a:ext cx="1715069" cy="9416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Customer Value</a:t>
            </a:r>
          </a:p>
        </p:txBody>
      </p:sp>
      <p:sp>
        <p:nvSpPr>
          <p:cNvPr id="10" name="Arrow: Right 9">
            <a:extLst>
              <a:ext uri="{FF2B5EF4-FFF2-40B4-BE49-F238E27FC236}">
                <a16:creationId xmlns:a16="http://schemas.microsoft.com/office/drawing/2014/main" id="{47DAE8DB-23E4-9A6D-B361-7D1A84E65E23}"/>
              </a:ext>
            </a:extLst>
          </p:cNvPr>
          <p:cNvSpPr/>
          <p:nvPr/>
        </p:nvSpPr>
        <p:spPr>
          <a:xfrm>
            <a:off x="4745443" y="3507473"/>
            <a:ext cx="418529" cy="4196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1AA3BF81-DD82-7861-FCD7-DEAB33DA0F75}"/>
              </a:ext>
            </a:extLst>
          </p:cNvPr>
          <p:cNvSpPr/>
          <p:nvPr/>
        </p:nvSpPr>
        <p:spPr>
          <a:xfrm>
            <a:off x="6796728" y="3507473"/>
            <a:ext cx="418529" cy="4196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EC88C338-67D1-85F3-2B2C-ACECFCD80D9D}"/>
              </a:ext>
            </a:extLst>
          </p:cNvPr>
          <p:cNvSpPr/>
          <p:nvPr/>
        </p:nvSpPr>
        <p:spPr>
          <a:xfrm>
            <a:off x="8946534" y="3507473"/>
            <a:ext cx="418529" cy="4196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124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D23212-C74A-930D-B576-DB7E3CF4B1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33E514-45CE-A6C5-0C82-D4ED6FC48ECF}"/>
              </a:ext>
            </a:extLst>
          </p:cNvPr>
          <p:cNvSpPr>
            <a:spLocks noGrp="1"/>
          </p:cNvSpPr>
          <p:nvPr>
            <p:ph type="ctrTitle"/>
          </p:nvPr>
        </p:nvSpPr>
        <p:spPr>
          <a:xfrm>
            <a:off x="300252" y="406400"/>
            <a:ext cx="11464118" cy="1081206"/>
          </a:xfrm>
        </p:spPr>
        <p:txBody>
          <a:bodyPr/>
          <a:lstStyle/>
          <a:p>
            <a:r>
              <a:rPr lang="en-US" dirty="0"/>
              <a:t>Lead Time Vs Processing Time</a:t>
            </a:r>
          </a:p>
        </p:txBody>
      </p:sp>
      <p:sp>
        <p:nvSpPr>
          <p:cNvPr id="13" name="Rectangle: Rounded Corners 12">
            <a:extLst>
              <a:ext uri="{FF2B5EF4-FFF2-40B4-BE49-F238E27FC236}">
                <a16:creationId xmlns:a16="http://schemas.microsoft.com/office/drawing/2014/main" id="{76DB2296-C6CE-D73F-DBA6-5800598850B1}"/>
              </a:ext>
            </a:extLst>
          </p:cNvPr>
          <p:cNvSpPr/>
          <p:nvPr/>
        </p:nvSpPr>
        <p:spPr>
          <a:xfrm>
            <a:off x="518615" y="1869744"/>
            <a:ext cx="4544704" cy="23201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4000" dirty="0"/>
              <a:t>LEAD TIME:</a:t>
            </a:r>
          </a:p>
          <a:p>
            <a:endParaRPr lang="en-US" dirty="0"/>
          </a:p>
          <a:p>
            <a:r>
              <a:rPr lang="en-US" dirty="0"/>
              <a:t>This is the total time from when the user submits a ticket to when the work is completed.</a:t>
            </a:r>
          </a:p>
          <a:p>
            <a:pPr algn="ctr"/>
            <a:endParaRPr lang="en-US" dirty="0"/>
          </a:p>
        </p:txBody>
      </p:sp>
      <p:sp>
        <p:nvSpPr>
          <p:cNvPr id="16" name="Rectangle: Rounded Corners 15">
            <a:extLst>
              <a:ext uri="{FF2B5EF4-FFF2-40B4-BE49-F238E27FC236}">
                <a16:creationId xmlns:a16="http://schemas.microsoft.com/office/drawing/2014/main" id="{42BA1DBA-070F-3438-BDDB-1F1AB7E604B4}"/>
              </a:ext>
            </a:extLst>
          </p:cNvPr>
          <p:cNvSpPr/>
          <p:nvPr/>
        </p:nvSpPr>
        <p:spPr>
          <a:xfrm>
            <a:off x="6607791" y="1869744"/>
            <a:ext cx="4544704" cy="23201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4000" dirty="0"/>
              <a:t>PROCESSING TIME:</a:t>
            </a:r>
          </a:p>
          <a:p>
            <a:endParaRPr lang="en-US" dirty="0"/>
          </a:p>
          <a:p>
            <a:r>
              <a:rPr lang="en-US" dirty="0"/>
              <a:t>This is the time from when someone or something is actively working on the request.</a:t>
            </a:r>
          </a:p>
          <a:p>
            <a:pPr algn="ctr"/>
            <a:endParaRPr lang="en-US" dirty="0"/>
          </a:p>
        </p:txBody>
      </p:sp>
      <p:pic>
        <p:nvPicPr>
          <p:cNvPr id="18" name="Picture 17">
            <a:extLst>
              <a:ext uri="{FF2B5EF4-FFF2-40B4-BE49-F238E27FC236}">
                <a16:creationId xmlns:a16="http://schemas.microsoft.com/office/drawing/2014/main" id="{B0496923-BC4A-ECD0-EDAB-CFF38BAA2CBF}"/>
              </a:ext>
            </a:extLst>
          </p:cNvPr>
          <p:cNvPicPr>
            <a:picLocks noChangeAspect="1"/>
          </p:cNvPicPr>
          <p:nvPr/>
        </p:nvPicPr>
        <p:blipFill>
          <a:blip r:embed="rId2"/>
          <a:stretch>
            <a:fillRect/>
          </a:stretch>
        </p:blipFill>
        <p:spPr>
          <a:xfrm>
            <a:off x="1746913" y="4339988"/>
            <a:ext cx="8703771" cy="1978925"/>
          </a:xfrm>
          <a:prstGeom prst="rect">
            <a:avLst/>
          </a:prstGeom>
        </p:spPr>
      </p:pic>
      <p:sp>
        <p:nvSpPr>
          <p:cNvPr id="19" name="TextBox 18">
            <a:extLst>
              <a:ext uri="{FF2B5EF4-FFF2-40B4-BE49-F238E27FC236}">
                <a16:creationId xmlns:a16="http://schemas.microsoft.com/office/drawing/2014/main" id="{ABF2459A-B8AB-41E1-B6AC-01E00746F08B}"/>
              </a:ext>
            </a:extLst>
          </p:cNvPr>
          <p:cNvSpPr txBox="1"/>
          <p:nvPr/>
        </p:nvSpPr>
        <p:spPr>
          <a:xfrm>
            <a:off x="3632120" y="6318913"/>
            <a:ext cx="4927759" cy="369332"/>
          </a:xfrm>
          <a:prstGeom prst="rect">
            <a:avLst/>
          </a:prstGeom>
          <a:noFill/>
        </p:spPr>
        <p:txBody>
          <a:bodyPr wrap="none" rtlCol="0">
            <a:spAutoFit/>
          </a:bodyPr>
          <a:lstStyle/>
          <a:p>
            <a:r>
              <a:rPr lang="en-US" dirty="0"/>
              <a:t>Image Reference: The DevOps Handbook : page 51</a:t>
            </a:r>
          </a:p>
        </p:txBody>
      </p:sp>
    </p:spTree>
    <p:extLst>
      <p:ext uri="{BB962C8B-B14F-4D97-AF65-F5344CB8AC3E}">
        <p14:creationId xmlns:p14="http://schemas.microsoft.com/office/powerpoint/2010/main" val="391829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7747D60-4D0D-D6FB-0F2A-5EF46103E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AFAB77-A13A-48B4-1D39-FED8D924002E}"/>
              </a:ext>
            </a:extLst>
          </p:cNvPr>
          <p:cNvSpPr>
            <a:spLocks noGrp="1"/>
          </p:cNvSpPr>
          <p:nvPr>
            <p:ph type="ctrTitle"/>
          </p:nvPr>
        </p:nvSpPr>
        <p:spPr>
          <a:xfrm>
            <a:off x="300252" y="406400"/>
            <a:ext cx="11464118" cy="1081206"/>
          </a:xfrm>
        </p:spPr>
        <p:txBody>
          <a:bodyPr>
            <a:noAutofit/>
          </a:bodyPr>
          <a:lstStyle/>
          <a:p>
            <a:r>
              <a:rPr lang="en-US" sz="4800" dirty="0"/>
              <a:t>Deployment Lead Times Requiring Months</a:t>
            </a:r>
          </a:p>
        </p:txBody>
      </p:sp>
      <p:sp>
        <p:nvSpPr>
          <p:cNvPr id="3" name="Rectangle: Rounded Corners 2">
            <a:extLst>
              <a:ext uri="{FF2B5EF4-FFF2-40B4-BE49-F238E27FC236}">
                <a16:creationId xmlns:a16="http://schemas.microsoft.com/office/drawing/2014/main" id="{A069DC9D-3BDE-3C6B-B897-86FCEA641FBC}"/>
              </a:ext>
            </a:extLst>
          </p:cNvPr>
          <p:cNvSpPr/>
          <p:nvPr/>
        </p:nvSpPr>
        <p:spPr>
          <a:xfrm>
            <a:off x="641444" y="2361062"/>
            <a:ext cx="10768083" cy="25794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Why can deployment lead times take months? </a:t>
            </a:r>
          </a:p>
          <a:p>
            <a:pPr algn="ctr"/>
            <a:endParaRPr lang="en-US" sz="2800" dirty="0"/>
          </a:p>
          <a:p>
            <a:pPr algn="ctr"/>
            <a:r>
              <a:rPr lang="en-US" sz="2800" dirty="0"/>
              <a:t>With large companies there maybe many teams that have inputs on the tasks or different code bases not merging and compiling together. This can cause weeks or even months to find and debug the issue. </a:t>
            </a:r>
          </a:p>
        </p:txBody>
      </p:sp>
    </p:spTree>
    <p:extLst>
      <p:ext uri="{BB962C8B-B14F-4D97-AF65-F5344CB8AC3E}">
        <p14:creationId xmlns:p14="http://schemas.microsoft.com/office/powerpoint/2010/main" val="2314762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EBD5D35-6FB4-1517-F82E-0F52C3CC1F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8AC65-8FAD-C73D-8099-9D76A48D41CA}"/>
              </a:ext>
            </a:extLst>
          </p:cNvPr>
          <p:cNvSpPr>
            <a:spLocks noGrp="1"/>
          </p:cNvSpPr>
          <p:nvPr>
            <p:ph type="ctrTitle"/>
          </p:nvPr>
        </p:nvSpPr>
        <p:spPr>
          <a:xfrm>
            <a:off x="300252" y="406400"/>
            <a:ext cx="11464118" cy="1081206"/>
          </a:xfrm>
        </p:spPr>
        <p:txBody>
          <a:bodyPr>
            <a:noAutofit/>
          </a:bodyPr>
          <a:lstStyle/>
          <a:p>
            <a:r>
              <a:rPr lang="en-US" sz="5400" dirty="0"/>
              <a:t>Deployment Lead Times of Minutes</a:t>
            </a:r>
            <a:endParaRPr lang="en-US" sz="4400" dirty="0"/>
          </a:p>
        </p:txBody>
      </p:sp>
      <p:sp>
        <p:nvSpPr>
          <p:cNvPr id="3" name="Rectangle: Rounded Corners 2">
            <a:extLst>
              <a:ext uri="{FF2B5EF4-FFF2-40B4-BE49-F238E27FC236}">
                <a16:creationId xmlns:a16="http://schemas.microsoft.com/office/drawing/2014/main" id="{E80BFF25-47E1-30DF-AB29-B9FF82EC209D}"/>
              </a:ext>
            </a:extLst>
          </p:cNvPr>
          <p:cNvSpPr/>
          <p:nvPr/>
        </p:nvSpPr>
        <p:spPr>
          <a:xfrm>
            <a:off x="641444" y="2361062"/>
            <a:ext cx="10768083" cy="3220872"/>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Using DevOps format:</a:t>
            </a:r>
          </a:p>
          <a:p>
            <a:pPr algn="ctr"/>
            <a:r>
              <a:rPr lang="en-US" sz="3600" dirty="0"/>
              <a:t>we can take smaller code changes into the repository then setup automated and exploratory testing, and finally deploy into production</a:t>
            </a:r>
          </a:p>
        </p:txBody>
      </p:sp>
    </p:spTree>
    <p:extLst>
      <p:ext uri="{BB962C8B-B14F-4D97-AF65-F5344CB8AC3E}">
        <p14:creationId xmlns:p14="http://schemas.microsoft.com/office/powerpoint/2010/main" val="159864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F2737C8-C334-D5E1-D268-B56102F6A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6E932F-8A7A-999F-7B4D-D02AA488E207}"/>
              </a:ext>
            </a:extLst>
          </p:cNvPr>
          <p:cNvSpPr>
            <a:spLocks noGrp="1"/>
          </p:cNvSpPr>
          <p:nvPr>
            <p:ph type="ctrTitle"/>
          </p:nvPr>
        </p:nvSpPr>
        <p:spPr>
          <a:xfrm>
            <a:off x="300252" y="406400"/>
            <a:ext cx="11464118" cy="1081206"/>
          </a:xfrm>
        </p:spPr>
        <p:txBody>
          <a:bodyPr>
            <a:noAutofit/>
          </a:bodyPr>
          <a:lstStyle/>
          <a:p>
            <a:r>
              <a:rPr lang="en-US" sz="5400" dirty="0"/>
              <a:t>Months Vs Minuets Example</a:t>
            </a:r>
            <a:endParaRPr lang="en-US" sz="4400" dirty="0"/>
          </a:p>
        </p:txBody>
      </p:sp>
      <p:sp>
        <p:nvSpPr>
          <p:cNvPr id="4" name="TextBox 3">
            <a:extLst>
              <a:ext uri="{FF2B5EF4-FFF2-40B4-BE49-F238E27FC236}">
                <a16:creationId xmlns:a16="http://schemas.microsoft.com/office/drawing/2014/main" id="{9596D686-001A-EB7E-052E-303F34F3B87B}"/>
              </a:ext>
            </a:extLst>
          </p:cNvPr>
          <p:cNvSpPr txBox="1"/>
          <p:nvPr/>
        </p:nvSpPr>
        <p:spPr>
          <a:xfrm>
            <a:off x="300252" y="1460753"/>
            <a:ext cx="1933671" cy="369332"/>
          </a:xfrm>
          <a:prstGeom prst="rect">
            <a:avLst/>
          </a:prstGeom>
          <a:noFill/>
        </p:spPr>
        <p:txBody>
          <a:bodyPr wrap="none" rtlCol="0">
            <a:spAutoFit/>
          </a:bodyPr>
          <a:lstStyle/>
          <a:p>
            <a:r>
              <a:rPr lang="en-US" dirty="0"/>
              <a:t>Months: 11 Weeks</a:t>
            </a:r>
          </a:p>
        </p:txBody>
      </p:sp>
      <p:sp>
        <p:nvSpPr>
          <p:cNvPr id="5" name="Rectangle: Rounded Corners 4">
            <a:extLst>
              <a:ext uri="{FF2B5EF4-FFF2-40B4-BE49-F238E27FC236}">
                <a16:creationId xmlns:a16="http://schemas.microsoft.com/office/drawing/2014/main" id="{E00EA7DE-089C-284C-5B79-033A2E69C211}"/>
              </a:ext>
            </a:extLst>
          </p:cNvPr>
          <p:cNvSpPr/>
          <p:nvPr/>
        </p:nvSpPr>
        <p:spPr>
          <a:xfrm>
            <a:off x="77339" y="2524836"/>
            <a:ext cx="1460309" cy="10812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Development</a:t>
            </a:r>
          </a:p>
          <a:p>
            <a:pPr algn="ctr"/>
            <a:r>
              <a:rPr lang="en-US" dirty="0"/>
              <a:t>5 Days</a:t>
            </a:r>
          </a:p>
        </p:txBody>
      </p:sp>
      <p:sp>
        <p:nvSpPr>
          <p:cNvPr id="6" name="Rectangle: Rounded Corners 5">
            <a:extLst>
              <a:ext uri="{FF2B5EF4-FFF2-40B4-BE49-F238E27FC236}">
                <a16:creationId xmlns:a16="http://schemas.microsoft.com/office/drawing/2014/main" id="{A1B7071C-61D4-85D0-38E1-4487277FE5DD}"/>
              </a:ext>
            </a:extLst>
          </p:cNvPr>
          <p:cNvSpPr/>
          <p:nvPr/>
        </p:nvSpPr>
        <p:spPr>
          <a:xfrm>
            <a:off x="1692330" y="2524836"/>
            <a:ext cx="1637730" cy="10812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Wait for Testers</a:t>
            </a:r>
          </a:p>
          <a:p>
            <a:pPr algn="ctr"/>
            <a:r>
              <a:rPr lang="en-US" dirty="0"/>
              <a:t>3 Weeks</a:t>
            </a:r>
          </a:p>
        </p:txBody>
      </p:sp>
      <p:sp>
        <p:nvSpPr>
          <p:cNvPr id="7" name="Rectangle: Rounded Corners 6">
            <a:extLst>
              <a:ext uri="{FF2B5EF4-FFF2-40B4-BE49-F238E27FC236}">
                <a16:creationId xmlns:a16="http://schemas.microsoft.com/office/drawing/2014/main" id="{4A1F1416-5D9B-BCD0-7AD1-D07D9AD91322}"/>
              </a:ext>
            </a:extLst>
          </p:cNvPr>
          <p:cNvSpPr/>
          <p:nvPr/>
        </p:nvSpPr>
        <p:spPr>
          <a:xfrm>
            <a:off x="3484742" y="2558956"/>
            <a:ext cx="1637730" cy="10641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Testing</a:t>
            </a:r>
          </a:p>
          <a:p>
            <a:pPr algn="ctr"/>
            <a:r>
              <a:rPr lang="en-US" dirty="0"/>
              <a:t>3 Days</a:t>
            </a:r>
          </a:p>
        </p:txBody>
      </p:sp>
      <p:sp>
        <p:nvSpPr>
          <p:cNvPr id="8" name="Rectangle: Rounded Corners 7">
            <a:extLst>
              <a:ext uri="{FF2B5EF4-FFF2-40B4-BE49-F238E27FC236}">
                <a16:creationId xmlns:a16="http://schemas.microsoft.com/office/drawing/2014/main" id="{0CB4FB73-A0C5-F599-80F4-5D36392E33FE}"/>
              </a:ext>
            </a:extLst>
          </p:cNvPr>
          <p:cNvSpPr/>
          <p:nvPr/>
        </p:nvSpPr>
        <p:spPr>
          <a:xfrm>
            <a:off x="5277154" y="2524836"/>
            <a:ext cx="1637730" cy="10641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Wait For Approvers</a:t>
            </a:r>
          </a:p>
          <a:p>
            <a:pPr algn="ctr"/>
            <a:r>
              <a:rPr lang="en-US" dirty="0"/>
              <a:t>4 Weeks</a:t>
            </a:r>
          </a:p>
        </p:txBody>
      </p:sp>
      <p:sp>
        <p:nvSpPr>
          <p:cNvPr id="9" name="Rectangle: Rounded Corners 8">
            <a:extLst>
              <a:ext uri="{FF2B5EF4-FFF2-40B4-BE49-F238E27FC236}">
                <a16:creationId xmlns:a16="http://schemas.microsoft.com/office/drawing/2014/main" id="{48D6248A-BCFC-864F-F053-F6B7DB14C001}"/>
              </a:ext>
            </a:extLst>
          </p:cNvPr>
          <p:cNvSpPr/>
          <p:nvPr/>
        </p:nvSpPr>
        <p:spPr>
          <a:xfrm>
            <a:off x="7069530" y="2558956"/>
            <a:ext cx="1815150" cy="10812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Approval Board</a:t>
            </a:r>
          </a:p>
          <a:p>
            <a:pPr algn="ctr"/>
            <a:r>
              <a:rPr lang="en-US" dirty="0"/>
              <a:t>1 Day</a:t>
            </a:r>
          </a:p>
        </p:txBody>
      </p:sp>
      <p:sp>
        <p:nvSpPr>
          <p:cNvPr id="10" name="Rectangle: Rounded Corners 9">
            <a:extLst>
              <a:ext uri="{FF2B5EF4-FFF2-40B4-BE49-F238E27FC236}">
                <a16:creationId xmlns:a16="http://schemas.microsoft.com/office/drawing/2014/main" id="{0B3BCEC6-2131-7CF1-4B92-D35DFAC96839}"/>
              </a:ext>
            </a:extLst>
          </p:cNvPr>
          <p:cNvSpPr/>
          <p:nvPr/>
        </p:nvSpPr>
        <p:spPr>
          <a:xfrm>
            <a:off x="9039326" y="2541896"/>
            <a:ext cx="1637730" cy="10812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Wait for a deployment window</a:t>
            </a:r>
          </a:p>
          <a:p>
            <a:pPr algn="ctr"/>
            <a:r>
              <a:rPr lang="en-US" dirty="0"/>
              <a:t>3 Weeks</a:t>
            </a:r>
          </a:p>
        </p:txBody>
      </p:sp>
      <p:sp>
        <p:nvSpPr>
          <p:cNvPr id="11" name="Rectangle: Rounded Corners 10">
            <a:extLst>
              <a:ext uri="{FF2B5EF4-FFF2-40B4-BE49-F238E27FC236}">
                <a16:creationId xmlns:a16="http://schemas.microsoft.com/office/drawing/2014/main" id="{AD8AA7B9-AFE9-1E06-9489-4EAE962778E5}"/>
              </a:ext>
            </a:extLst>
          </p:cNvPr>
          <p:cNvSpPr/>
          <p:nvPr/>
        </p:nvSpPr>
        <p:spPr>
          <a:xfrm>
            <a:off x="10786344" y="2507776"/>
            <a:ext cx="1328317" cy="10982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 Production</a:t>
            </a:r>
          </a:p>
        </p:txBody>
      </p:sp>
      <p:sp>
        <p:nvSpPr>
          <p:cNvPr id="12" name="Arrow: Curved Down 11">
            <a:extLst>
              <a:ext uri="{FF2B5EF4-FFF2-40B4-BE49-F238E27FC236}">
                <a16:creationId xmlns:a16="http://schemas.microsoft.com/office/drawing/2014/main" id="{07E2DB52-0E53-24EE-CCB6-3D3CA7D826BA}"/>
              </a:ext>
            </a:extLst>
          </p:cNvPr>
          <p:cNvSpPr/>
          <p:nvPr/>
        </p:nvSpPr>
        <p:spPr>
          <a:xfrm>
            <a:off x="941696" y="1897039"/>
            <a:ext cx="1460309" cy="627797"/>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Arrow: Curved Down 12">
            <a:extLst>
              <a:ext uri="{FF2B5EF4-FFF2-40B4-BE49-F238E27FC236}">
                <a16:creationId xmlns:a16="http://schemas.microsoft.com/office/drawing/2014/main" id="{02F7233A-6C01-9056-F4F2-9A1901B900D5}"/>
              </a:ext>
            </a:extLst>
          </p:cNvPr>
          <p:cNvSpPr/>
          <p:nvPr/>
        </p:nvSpPr>
        <p:spPr>
          <a:xfrm>
            <a:off x="2906988" y="1914099"/>
            <a:ext cx="1460309" cy="627797"/>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row: Curved Down 13">
            <a:extLst>
              <a:ext uri="{FF2B5EF4-FFF2-40B4-BE49-F238E27FC236}">
                <a16:creationId xmlns:a16="http://schemas.microsoft.com/office/drawing/2014/main" id="{589702D7-5F82-20B9-EE33-C67CE4615D82}"/>
              </a:ext>
            </a:extLst>
          </p:cNvPr>
          <p:cNvSpPr/>
          <p:nvPr/>
        </p:nvSpPr>
        <p:spPr>
          <a:xfrm>
            <a:off x="4808607" y="1898323"/>
            <a:ext cx="1460309" cy="627797"/>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Arrow: Curved Down 14">
            <a:extLst>
              <a:ext uri="{FF2B5EF4-FFF2-40B4-BE49-F238E27FC236}">
                <a16:creationId xmlns:a16="http://schemas.microsoft.com/office/drawing/2014/main" id="{C24DA0E9-4DCE-0805-B213-F6FFC722C2C9}"/>
              </a:ext>
            </a:extLst>
          </p:cNvPr>
          <p:cNvSpPr/>
          <p:nvPr/>
        </p:nvSpPr>
        <p:spPr>
          <a:xfrm>
            <a:off x="6600982" y="1879979"/>
            <a:ext cx="1460309" cy="627797"/>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Arrow: Curved Down 15">
            <a:extLst>
              <a:ext uri="{FF2B5EF4-FFF2-40B4-BE49-F238E27FC236}">
                <a16:creationId xmlns:a16="http://schemas.microsoft.com/office/drawing/2014/main" id="{84009B45-7079-12B5-907F-1C8153FCFFEC}"/>
              </a:ext>
            </a:extLst>
          </p:cNvPr>
          <p:cNvSpPr/>
          <p:nvPr/>
        </p:nvSpPr>
        <p:spPr>
          <a:xfrm>
            <a:off x="8554857" y="1897039"/>
            <a:ext cx="1460309" cy="627797"/>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Arrow: Curved Down 16">
            <a:extLst>
              <a:ext uri="{FF2B5EF4-FFF2-40B4-BE49-F238E27FC236}">
                <a16:creationId xmlns:a16="http://schemas.microsoft.com/office/drawing/2014/main" id="{D3C71C5D-76DB-C2E7-0B5F-A193BCF84778}"/>
              </a:ext>
            </a:extLst>
          </p:cNvPr>
          <p:cNvSpPr/>
          <p:nvPr/>
        </p:nvSpPr>
        <p:spPr>
          <a:xfrm>
            <a:off x="10244921" y="1879979"/>
            <a:ext cx="1460309" cy="627797"/>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TextBox 17">
            <a:extLst>
              <a:ext uri="{FF2B5EF4-FFF2-40B4-BE49-F238E27FC236}">
                <a16:creationId xmlns:a16="http://schemas.microsoft.com/office/drawing/2014/main" id="{8EC500BD-F56F-06C9-78E3-0C0B0073C4F8}"/>
              </a:ext>
            </a:extLst>
          </p:cNvPr>
          <p:cNvSpPr txBox="1"/>
          <p:nvPr/>
        </p:nvSpPr>
        <p:spPr>
          <a:xfrm>
            <a:off x="77339" y="4273940"/>
            <a:ext cx="1597810" cy="369332"/>
          </a:xfrm>
          <a:prstGeom prst="rect">
            <a:avLst/>
          </a:prstGeom>
          <a:noFill/>
        </p:spPr>
        <p:txBody>
          <a:bodyPr wrap="none" rtlCol="0">
            <a:spAutoFit/>
          </a:bodyPr>
          <a:lstStyle/>
          <a:p>
            <a:r>
              <a:rPr lang="en-US" dirty="0"/>
              <a:t>Minuets: 1 Day</a:t>
            </a:r>
          </a:p>
        </p:txBody>
      </p:sp>
      <p:sp>
        <p:nvSpPr>
          <p:cNvPr id="19" name="Rectangle: Rounded Corners 18">
            <a:extLst>
              <a:ext uri="{FF2B5EF4-FFF2-40B4-BE49-F238E27FC236}">
                <a16:creationId xmlns:a16="http://schemas.microsoft.com/office/drawing/2014/main" id="{C8BB883E-D094-2164-3D23-F264C56AFD04}"/>
              </a:ext>
            </a:extLst>
          </p:cNvPr>
          <p:cNvSpPr/>
          <p:nvPr/>
        </p:nvSpPr>
        <p:spPr>
          <a:xfrm>
            <a:off x="77338" y="5311170"/>
            <a:ext cx="1460309" cy="1081206"/>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Small Code Change</a:t>
            </a:r>
          </a:p>
          <a:p>
            <a:pPr algn="ctr"/>
            <a:r>
              <a:rPr lang="en-US" sz="1600" dirty="0"/>
              <a:t>8 Hours</a:t>
            </a:r>
            <a:endParaRPr lang="en-US" dirty="0"/>
          </a:p>
        </p:txBody>
      </p:sp>
      <p:sp>
        <p:nvSpPr>
          <p:cNvPr id="20" name="Rectangle: Rounded Corners 19">
            <a:extLst>
              <a:ext uri="{FF2B5EF4-FFF2-40B4-BE49-F238E27FC236}">
                <a16:creationId xmlns:a16="http://schemas.microsoft.com/office/drawing/2014/main" id="{1BB14510-25BE-9B38-5E70-3E4EFA5E640B}"/>
              </a:ext>
            </a:extLst>
          </p:cNvPr>
          <p:cNvSpPr/>
          <p:nvPr/>
        </p:nvSpPr>
        <p:spPr>
          <a:xfrm>
            <a:off x="1781040" y="5311170"/>
            <a:ext cx="1903856" cy="1081206"/>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Commit Change to repository</a:t>
            </a:r>
          </a:p>
          <a:p>
            <a:pPr algn="ctr"/>
            <a:r>
              <a:rPr lang="en-US" sz="1600" dirty="0"/>
              <a:t>Automatic</a:t>
            </a:r>
            <a:endParaRPr lang="en-US" dirty="0"/>
          </a:p>
        </p:txBody>
      </p:sp>
      <p:sp>
        <p:nvSpPr>
          <p:cNvPr id="21" name="Rectangle: Rounded Corners 20">
            <a:extLst>
              <a:ext uri="{FF2B5EF4-FFF2-40B4-BE49-F238E27FC236}">
                <a16:creationId xmlns:a16="http://schemas.microsoft.com/office/drawing/2014/main" id="{0AD689E2-253E-B836-0978-D443098ED1A1}"/>
              </a:ext>
            </a:extLst>
          </p:cNvPr>
          <p:cNvSpPr/>
          <p:nvPr/>
        </p:nvSpPr>
        <p:spPr>
          <a:xfrm>
            <a:off x="4101198" y="5311170"/>
            <a:ext cx="1460309" cy="1081206"/>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Automated Testing</a:t>
            </a:r>
          </a:p>
          <a:p>
            <a:pPr algn="ctr"/>
            <a:r>
              <a:rPr lang="en-US" sz="1600" dirty="0"/>
              <a:t>10 Minuets</a:t>
            </a:r>
            <a:endParaRPr lang="en-US" dirty="0"/>
          </a:p>
        </p:txBody>
      </p:sp>
      <p:sp>
        <p:nvSpPr>
          <p:cNvPr id="22" name="Rectangle: Rounded Corners 21">
            <a:extLst>
              <a:ext uri="{FF2B5EF4-FFF2-40B4-BE49-F238E27FC236}">
                <a16:creationId xmlns:a16="http://schemas.microsoft.com/office/drawing/2014/main" id="{A573762E-6561-90D1-E2C4-4469272FC0FF}"/>
              </a:ext>
            </a:extLst>
          </p:cNvPr>
          <p:cNvSpPr/>
          <p:nvPr/>
        </p:nvSpPr>
        <p:spPr>
          <a:xfrm>
            <a:off x="6032311" y="5311170"/>
            <a:ext cx="1460309" cy="1081206"/>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Exploratory Testing</a:t>
            </a:r>
          </a:p>
          <a:p>
            <a:pPr algn="ctr"/>
            <a:r>
              <a:rPr lang="en-US" sz="1600" dirty="0"/>
              <a:t>10 Minuets</a:t>
            </a:r>
            <a:endParaRPr lang="en-US" dirty="0"/>
          </a:p>
        </p:txBody>
      </p:sp>
      <p:sp>
        <p:nvSpPr>
          <p:cNvPr id="23" name="Rectangle: Rounded Corners 22">
            <a:extLst>
              <a:ext uri="{FF2B5EF4-FFF2-40B4-BE49-F238E27FC236}">
                <a16:creationId xmlns:a16="http://schemas.microsoft.com/office/drawing/2014/main" id="{124CC37A-5431-C486-F880-7233796438A4}"/>
              </a:ext>
            </a:extLst>
          </p:cNvPr>
          <p:cNvSpPr/>
          <p:nvPr/>
        </p:nvSpPr>
        <p:spPr>
          <a:xfrm>
            <a:off x="7888391" y="5311170"/>
            <a:ext cx="1460309" cy="1081206"/>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In Production</a:t>
            </a:r>
            <a:endParaRPr lang="en-US" dirty="0"/>
          </a:p>
        </p:txBody>
      </p:sp>
      <p:sp>
        <p:nvSpPr>
          <p:cNvPr id="24" name="Arrow: Curved Down 23">
            <a:extLst>
              <a:ext uri="{FF2B5EF4-FFF2-40B4-BE49-F238E27FC236}">
                <a16:creationId xmlns:a16="http://schemas.microsoft.com/office/drawing/2014/main" id="{33516BB7-0C80-A732-4A49-88D8B9872338}"/>
              </a:ext>
            </a:extLst>
          </p:cNvPr>
          <p:cNvSpPr/>
          <p:nvPr/>
        </p:nvSpPr>
        <p:spPr>
          <a:xfrm>
            <a:off x="929189" y="4694450"/>
            <a:ext cx="1460309" cy="627797"/>
          </a:xfrm>
          <a:prstGeom prst="curvedDown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Arrow: Curved Down 24">
            <a:extLst>
              <a:ext uri="{FF2B5EF4-FFF2-40B4-BE49-F238E27FC236}">
                <a16:creationId xmlns:a16="http://schemas.microsoft.com/office/drawing/2014/main" id="{84DFA8F0-8142-F75F-E823-591E99B1FC06}"/>
              </a:ext>
            </a:extLst>
          </p:cNvPr>
          <p:cNvSpPr/>
          <p:nvPr/>
        </p:nvSpPr>
        <p:spPr>
          <a:xfrm>
            <a:off x="3128753" y="4670187"/>
            <a:ext cx="1460309" cy="627797"/>
          </a:xfrm>
          <a:prstGeom prst="curvedDown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Arrow: Curved Down 25">
            <a:extLst>
              <a:ext uri="{FF2B5EF4-FFF2-40B4-BE49-F238E27FC236}">
                <a16:creationId xmlns:a16="http://schemas.microsoft.com/office/drawing/2014/main" id="{4649E1B4-D4D0-73EC-E070-EB8852B67BE1}"/>
              </a:ext>
            </a:extLst>
          </p:cNvPr>
          <p:cNvSpPr/>
          <p:nvPr/>
        </p:nvSpPr>
        <p:spPr>
          <a:xfrm>
            <a:off x="5152166" y="4683373"/>
            <a:ext cx="1460309" cy="627797"/>
          </a:xfrm>
          <a:prstGeom prst="curvedDown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Arrow: Curved Down 26">
            <a:extLst>
              <a:ext uri="{FF2B5EF4-FFF2-40B4-BE49-F238E27FC236}">
                <a16:creationId xmlns:a16="http://schemas.microsoft.com/office/drawing/2014/main" id="{56289D9D-E0BE-5E09-7E69-2D6C3CD13B2E}"/>
              </a:ext>
            </a:extLst>
          </p:cNvPr>
          <p:cNvSpPr/>
          <p:nvPr/>
        </p:nvSpPr>
        <p:spPr>
          <a:xfrm>
            <a:off x="7118833" y="4682993"/>
            <a:ext cx="1460309" cy="627797"/>
          </a:xfrm>
          <a:prstGeom prst="curvedDown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497051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AC2DCBE-8148-2E73-F407-8D3873AD02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D068D-2A0A-FD9F-1406-9535182E1ECA}"/>
              </a:ext>
            </a:extLst>
          </p:cNvPr>
          <p:cNvSpPr>
            <a:spLocks noGrp="1"/>
          </p:cNvSpPr>
          <p:nvPr>
            <p:ph type="ctrTitle"/>
          </p:nvPr>
        </p:nvSpPr>
        <p:spPr>
          <a:xfrm>
            <a:off x="300252" y="406400"/>
            <a:ext cx="11464118" cy="1081206"/>
          </a:xfrm>
        </p:spPr>
        <p:txBody>
          <a:bodyPr>
            <a:noAutofit/>
          </a:bodyPr>
          <a:lstStyle/>
          <a:p>
            <a:r>
              <a:rPr lang="en-US" sz="5400" dirty="0"/>
              <a:t>Using the DevOps Method Benefits</a:t>
            </a:r>
            <a:endParaRPr lang="en-US" sz="4400" dirty="0"/>
          </a:p>
        </p:txBody>
      </p:sp>
      <p:sp>
        <p:nvSpPr>
          <p:cNvPr id="3" name="TextBox 2">
            <a:extLst>
              <a:ext uri="{FF2B5EF4-FFF2-40B4-BE49-F238E27FC236}">
                <a16:creationId xmlns:a16="http://schemas.microsoft.com/office/drawing/2014/main" id="{A02C42D4-1458-1B98-9AEA-171B9DDB72FA}"/>
              </a:ext>
            </a:extLst>
          </p:cNvPr>
          <p:cNvSpPr txBox="1"/>
          <p:nvPr/>
        </p:nvSpPr>
        <p:spPr>
          <a:xfrm>
            <a:off x="300252" y="1624084"/>
            <a:ext cx="11600596" cy="3108543"/>
          </a:xfrm>
          <a:prstGeom prst="rect">
            <a:avLst/>
          </a:prstGeom>
          <a:noFill/>
        </p:spPr>
        <p:txBody>
          <a:bodyPr wrap="square" rtlCol="0">
            <a:spAutoFit/>
          </a:bodyPr>
          <a:lstStyle/>
          <a:p>
            <a:pPr marL="285750" indent="-285750">
              <a:buFont typeface="Arial" panose="020B0604020202020204" pitchFamily="34" charset="0"/>
              <a:buChar char="•"/>
            </a:pPr>
            <a:r>
              <a:rPr lang="en-US" sz="2800" dirty="0"/>
              <a:t>Faster Delivery: changes can be completed in minutes or hours instead of weeks or months</a:t>
            </a:r>
          </a:p>
          <a:p>
            <a:pPr marL="285750" indent="-285750">
              <a:buFont typeface="Arial" panose="020B0604020202020204" pitchFamily="34" charset="0"/>
              <a:buChar char="•"/>
            </a:pPr>
            <a:r>
              <a:rPr lang="en-US" sz="2800" dirty="0"/>
              <a:t>Faster value for the business: New features can be used by the customer in a timelier fashion</a:t>
            </a:r>
          </a:p>
          <a:p>
            <a:pPr marL="285750" indent="-285750">
              <a:buFont typeface="Arial" panose="020B0604020202020204" pitchFamily="34" charset="0"/>
              <a:buChar char="•"/>
            </a:pPr>
            <a:r>
              <a:rPr lang="en-US" sz="2800" dirty="0"/>
              <a:t>Smaller changes: easier to test and troubleshoot.</a:t>
            </a:r>
          </a:p>
          <a:p>
            <a:pPr marL="285750" indent="-285750">
              <a:buFont typeface="Arial" panose="020B0604020202020204" pitchFamily="34" charset="0"/>
              <a:buChar char="•"/>
            </a:pPr>
            <a:r>
              <a:rPr lang="en-US" sz="2800" dirty="0"/>
              <a:t>Faster Feedback: with faster releases you can get feedback from the customer faster and pivot based on the feedback</a:t>
            </a:r>
          </a:p>
        </p:txBody>
      </p:sp>
    </p:spTree>
    <p:extLst>
      <p:ext uri="{BB962C8B-B14F-4D97-AF65-F5344CB8AC3E}">
        <p14:creationId xmlns:p14="http://schemas.microsoft.com/office/powerpoint/2010/main" val="253383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5C36451-5D91-0E0C-35FD-2B2D2402E0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F129DB-FB76-F1E4-ECEC-70031259BF12}"/>
              </a:ext>
            </a:extLst>
          </p:cNvPr>
          <p:cNvSpPr>
            <a:spLocks noGrp="1"/>
          </p:cNvSpPr>
          <p:nvPr>
            <p:ph type="ctrTitle"/>
          </p:nvPr>
        </p:nvSpPr>
        <p:spPr>
          <a:xfrm>
            <a:off x="300252" y="406400"/>
            <a:ext cx="11464118" cy="1081206"/>
          </a:xfrm>
        </p:spPr>
        <p:txBody>
          <a:bodyPr>
            <a:noAutofit/>
          </a:bodyPr>
          <a:lstStyle/>
          <a:p>
            <a:r>
              <a:rPr lang="en-US" sz="5400" dirty="0"/>
              <a:t>References:</a:t>
            </a:r>
            <a:endParaRPr lang="en-US" sz="4400" dirty="0"/>
          </a:p>
        </p:txBody>
      </p:sp>
      <p:sp>
        <p:nvSpPr>
          <p:cNvPr id="3" name="TextBox 2">
            <a:extLst>
              <a:ext uri="{FF2B5EF4-FFF2-40B4-BE49-F238E27FC236}">
                <a16:creationId xmlns:a16="http://schemas.microsoft.com/office/drawing/2014/main" id="{9ABE080F-1713-546D-9A5B-8F35757EA524}"/>
              </a:ext>
            </a:extLst>
          </p:cNvPr>
          <p:cNvSpPr txBox="1"/>
          <p:nvPr/>
        </p:nvSpPr>
        <p:spPr>
          <a:xfrm>
            <a:off x="300252" y="1624084"/>
            <a:ext cx="11600596" cy="1384995"/>
          </a:xfrm>
          <a:prstGeom prst="rect">
            <a:avLst/>
          </a:prstGeom>
          <a:noFill/>
        </p:spPr>
        <p:txBody>
          <a:bodyPr wrap="square" rtlCol="0">
            <a:spAutoFit/>
          </a:bodyPr>
          <a:lstStyle/>
          <a:p>
            <a:pPr marL="285750" indent="-285750">
              <a:buFont typeface="Arial" panose="020B0604020202020204" pitchFamily="34" charset="0"/>
              <a:buChar char="•"/>
            </a:pPr>
            <a:r>
              <a:rPr lang="en-US" sz="2800" dirty="0"/>
              <a:t>The DevOps Handbook</a:t>
            </a:r>
          </a:p>
          <a:p>
            <a:pPr marL="285750" indent="-285750">
              <a:buFont typeface="Arial" panose="020B0604020202020204" pitchFamily="34" charset="0"/>
              <a:buChar char="•"/>
            </a:pPr>
            <a:r>
              <a:rPr lang="en-US" sz="2800" dirty="0"/>
              <a:t>SEI Blog: https://www.sei.cmu.edu/blog/taking-devsecops-to-the-next-level-with-value-stream-mapping/</a:t>
            </a:r>
          </a:p>
        </p:txBody>
      </p:sp>
    </p:spTree>
    <p:extLst>
      <p:ext uri="{BB962C8B-B14F-4D97-AF65-F5344CB8AC3E}">
        <p14:creationId xmlns:p14="http://schemas.microsoft.com/office/powerpoint/2010/main" val="14339707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328</Words>
  <Application>Microsoft Office PowerPoint</Application>
  <PresentationFormat>Widescreen</PresentationFormat>
  <Paragraphs>59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The Technology Value Stream</vt:lpstr>
      <vt:lpstr>What is the technology value stream</vt:lpstr>
      <vt:lpstr>Lead Time Vs Processing Time</vt:lpstr>
      <vt:lpstr>Deployment Lead Times Requiring Months</vt:lpstr>
      <vt:lpstr>Deployment Lead Times of Minutes</vt:lpstr>
      <vt:lpstr>Months Vs Minuets Example</vt:lpstr>
      <vt:lpstr>Using the DevOps Method Benefits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Fryer</dc:creator>
  <cp:lastModifiedBy>Daniel Fryer</cp:lastModifiedBy>
  <cp:revision>2</cp:revision>
  <dcterms:created xsi:type="dcterms:W3CDTF">2026-08-14T23:11:07Z</dcterms:created>
  <dcterms:modified xsi:type="dcterms:W3CDTF">2026-08-15T01:05:52Z</dcterms:modified>
</cp:coreProperties>
</file>