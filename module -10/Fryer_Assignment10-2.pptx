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8" y="1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5E1A5-7284-3B54-6C5C-BE95E8520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B914A7-F8DE-ABF9-D187-B7A3602ED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50B90-C18B-E5BD-E110-B2D22C4C2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B418-A636-4E79-9E67-52F0C6D8ED2D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CAA54-5048-4C42-724F-37467EC5A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83535-31E3-3B55-DAD1-2619DDD64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8B21-8710-41BE-A0FB-BC1ECC8AA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0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78682-4AC4-C082-CFF4-86EDE5044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B0796-2006-2126-6492-89F87C696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99CC6-5564-E997-91D9-9C427CA4D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B418-A636-4E79-9E67-52F0C6D8ED2D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9A402-44C5-BE94-AC19-2453DCD00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2D652-5891-B83C-BB12-FAC609DBC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8B21-8710-41BE-A0FB-BC1ECC8AA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297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D081-18CD-C530-4CAC-2C4FBEB97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84A59-BE93-7FAA-E607-9BEA61D51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CCA11-9B4C-7DFB-72CA-7A2AF02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B418-A636-4E79-9E67-52F0C6D8ED2D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FC01F-D329-50E3-257F-2DB6FD20C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B7BBD-AF82-4BD2-C560-5A0347C9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8B21-8710-41BE-A0FB-BC1ECC8AA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56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3EAD3-47EC-D0D5-1F73-993AC8571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3C4F9-DFEA-7250-2208-D14E28E165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9BD9CE-2A51-E832-E117-2C1CB11E7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E55C0-D635-CA0F-628E-F7FD4E63C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B418-A636-4E79-9E67-52F0C6D8ED2D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84FDB-0859-A731-AAF5-F0EE83116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8018C-1B9E-86AD-6626-3A08AFC5D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8B21-8710-41BE-A0FB-BC1ECC8AA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534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7739-3203-8A06-25A0-08F4F41EF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2FC4F-1C33-C601-8CC4-CB87FB5B1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31CD6-E9A5-D6E5-0FEE-391C633E8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138BB3-4248-422D-91BD-B28F289757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77EB5D-6201-7BAC-EB82-B904CFB365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4E505E-1A28-CF24-664A-CE34A1C27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B418-A636-4E79-9E67-52F0C6D8ED2D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8ED3E-439E-4EF0-FDEA-83553782F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B018F2-4E7F-C601-A6AF-6D28FC67C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8B21-8710-41BE-A0FB-BC1ECC8AA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4B63-F56F-3343-001A-16D55D37F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24EDAF-531F-F550-6C97-5CC2C3EEB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B418-A636-4E79-9E67-52F0C6D8ED2D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D3FAE-4D77-4BF2-369D-8724D1C83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14F95-860E-1A5A-7649-EFEE9BDCC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8B21-8710-41BE-A0FB-BC1ECC8AA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04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D9772D-61E2-7AE1-641A-574A2E39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B418-A636-4E79-9E67-52F0C6D8ED2D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C1B362-B687-F2EE-B0D6-1805285BB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64044-2DDA-4BC0-DEA6-45D553FB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8B21-8710-41BE-A0FB-BC1ECC8AA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54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2D76-6222-AD6F-8C53-94312A0DE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8298F-B8EE-A8F0-3970-EFC4FFA8F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FEF4D-90F9-96DB-3848-00B7F43D6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BC01B6-F827-DE07-7683-19C3C6D42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B418-A636-4E79-9E67-52F0C6D8ED2D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34CD3-9428-7474-7BE6-15F69136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CE95D-AA68-6A92-4631-57AAB9B6D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8B21-8710-41BE-A0FB-BC1ECC8AA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64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0641E-9C36-C8EC-90E6-BB7C8A0A8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1ACB17-FF14-CFCB-4503-D1667D6B1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F8D48-BC91-1E5B-3DC1-18737A042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47237-6881-B598-9AF2-6FFBFE1BB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B418-A636-4E79-9E67-52F0C6D8ED2D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81DBB-4606-95FA-4D01-442046BB3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86DDD-0A62-7AEE-D8F6-DB6ABD4F8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8B21-8710-41BE-A0FB-BC1ECC8AA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281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12E98-CB09-BEC0-CB4B-E2C803DEA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28191A-CE2C-1907-87B1-F90462214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F56C2-1AD8-7FBF-038F-DC4DF2C23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B418-A636-4E79-9E67-52F0C6D8ED2D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A193E-5DBF-4158-CB85-E43047E50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78EBE-BD5E-1F79-952C-0262D9C10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8B21-8710-41BE-A0FB-BC1ECC8AA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50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3C4321-1348-A42E-1029-DCDBBEB25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FF9F9-CE1D-EA86-7269-9D9D1A933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D9383-CAD9-20E1-B92B-6EE0C27EA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7B418-A636-4E79-9E67-52F0C6D8ED2D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B6E82-0E77-4606-C360-969C4D977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A4D54-0C8B-45FF-4CA4-7D834F961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58B21-8710-41BE-A0FB-BC1ECC8AA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6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96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D64DF-1D8F-F01A-48F4-C91BD1DEE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831DC-FB9A-4747-8D37-8EE9E7406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535A4-5437-7A68-EAE4-9F03F3613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7B418-A636-4E79-9E67-52F0C6D8ED2D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BB731-AC17-4379-2132-F578DBB3CB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106E0-49E8-223A-F816-9FA1CA9F1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58B21-8710-41BE-A0FB-BC1ECC8AA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5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nyk.io/articles/securing-source-code-repositories/" TargetMode="External"/><Relationship Id="rId2" Type="http://schemas.openxmlformats.org/officeDocument/2006/relationships/hyperlink" Target="https://checkmarx.com/blog/supply-chain-security/repository-health-monitoring-part-2-essential-practices-for-secure-repositorie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96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F5656-F686-0AD8-282A-E9F19B328E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rgbClr val="66CCFF">
              <a:alpha val="40000"/>
            </a:srgbClr>
          </a:solidFill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Controls in Shared Source Code Repositories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857068-6C20-C859-2E23-D7310C400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1555" y="3602038"/>
            <a:ext cx="4796288" cy="1655762"/>
          </a:xfrm>
          <a:solidFill>
            <a:srgbClr val="66CCFF">
              <a:alpha val="20000"/>
            </a:srgbClr>
          </a:solidFill>
        </p:spPr>
        <p:txBody>
          <a:bodyPr/>
          <a:lstStyle/>
          <a:p>
            <a:r>
              <a:rPr lang="en-US" dirty="0"/>
              <a:t>Daniel Fryer</a:t>
            </a:r>
          </a:p>
          <a:p>
            <a:r>
              <a:rPr lang="en-US" dirty="0"/>
              <a:t>Assignment 10.2</a:t>
            </a:r>
          </a:p>
          <a:p>
            <a:r>
              <a:rPr lang="en-US" dirty="0"/>
              <a:t>10/3/2026</a:t>
            </a:r>
          </a:p>
        </p:txBody>
      </p:sp>
    </p:spTree>
    <p:extLst>
      <p:ext uri="{BB962C8B-B14F-4D97-AF65-F5344CB8AC3E}">
        <p14:creationId xmlns:p14="http://schemas.microsoft.com/office/powerpoint/2010/main" val="1099276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B041E-3BB8-0496-48C7-004178FA9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27098" cy="1325563"/>
          </a:xfrm>
          <a:solidFill>
            <a:srgbClr val="66CCFF">
              <a:alpha val="40000"/>
            </a:srgbClr>
          </a:solidFill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Secure Identities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4B572-ECDE-BE8F-9ECC-244E1F6F1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090" y="1825625"/>
            <a:ext cx="5723709" cy="3125198"/>
          </a:xfrm>
          <a:solidFill>
            <a:srgbClr val="66CCFF">
              <a:alpha val="20000"/>
            </a:srgbClr>
          </a:solidFill>
        </p:spPr>
        <p:txBody>
          <a:bodyPr/>
          <a:lstStyle/>
          <a:p>
            <a:r>
              <a:rPr lang="en-US" dirty="0"/>
              <a:t>Only employees who need to work on the source code should be given access to the repository.</a:t>
            </a:r>
          </a:p>
          <a:p>
            <a:r>
              <a:rPr lang="en-US" dirty="0"/>
              <a:t>Use robust authentication.</a:t>
            </a:r>
          </a:p>
          <a:p>
            <a:r>
              <a:rPr lang="en-US" dirty="0"/>
              <a:t>Review and update permissions for users on a regular basis.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B936EC-A164-C694-01E9-C55FB96D4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32" y="3624287"/>
            <a:ext cx="5030637" cy="313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77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B1561-7D37-3B90-69F6-AC453495E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64592" cy="1325563"/>
          </a:xfrm>
          <a:solidFill>
            <a:srgbClr val="66CCFF">
              <a:alpha val="40000"/>
            </a:srgbClr>
          </a:solidFill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 and Authenticate Code Commits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82260-C794-DED4-35D3-8DCE2831F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65766" cy="3263960"/>
          </a:xfrm>
          <a:solidFill>
            <a:srgbClr val="66CCFF">
              <a:alpha val="20000"/>
            </a:srgbClr>
          </a:solidFill>
        </p:spPr>
        <p:txBody>
          <a:bodyPr/>
          <a:lstStyle/>
          <a:p>
            <a:r>
              <a:rPr lang="en-US" dirty="0"/>
              <a:t>Enforcing of code comments ensure code integrity and authenticity.</a:t>
            </a:r>
          </a:p>
          <a:p>
            <a:r>
              <a:rPr lang="en-US" dirty="0"/>
              <a:t>Verifying who is uploading the code can prevent unauthorized code modifications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7DF518-208C-7BDA-5B2C-B925C71BB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6833" y="2860766"/>
            <a:ext cx="5939168" cy="380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039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1EE3B-DD57-D02E-2840-D65629D7F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14026" cy="1325563"/>
          </a:xfrm>
          <a:solidFill>
            <a:srgbClr val="66CCFF">
              <a:alpha val="40000"/>
            </a:srgbClr>
          </a:solidFill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Keep Secrets… Secret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C2340-A7FF-8BCC-B5FD-BCB729C47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28" y="1825625"/>
            <a:ext cx="4822371" cy="2384066"/>
          </a:xfrm>
          <a:solidFill>
            <a:srgbClr val="66CCFF">
              <a:alpha val="20000"/>
            </a:srgbClr>
          </a:solidFill>
        </p:spPr>
        <p:txBody>
          <a:bodyPr/>
          <a:lstStyle/>
          <a:p>
            <a:r>
              <a:rPr lang="en-US" dirty="0"/>
              <a:t>Keep API keys and passwords out of the source code.</a:t>
            </a:r>
          </a:p>
          <a:p>
            <a:r>
              <a:rPr lang="en-US" dirty="0"/>
              <a:t>Use a secure management system to handle the sensitive data.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5DDE54-49B2-388C-D416-B3A561DFA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25" y="2481943"/>
            <a:ext cx="5888975" cy="385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099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CC550-C732-0768-DC93-B22530C73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41302" cy="1325563"/>
          </a:xfrm>
          <a:solidFill>
            <a:srgbClr val="66CCFF">
              <a:alpha val="40000"/>
            </a:srgbClr>
          </a:solidFill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Source Code Protection/Branch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53E0A-50D2-113D-C8CF-081DEAF3D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Have a well defined and enforceable source control policy.</a:t>
            </a:r>
          </a:p>
          <a:p>
            <a:r>
              <a:rPr lang="en-US" dirty="0"/>
              <a:t>Using a process that all code is reviewed and passes status checks helps protect the branches.</a:t>
            </a:r>
          </a:p>
          <a:p>
            <a:r>
              <a:rPr lang="en-US" dirty="0"/>
              <a:t>Continuous training of developers about security best practices.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8CDD4-9053-2E14-47C2-E63CE5BEE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451" y="2026597"/>
            <a:ext cx="4599414" cy="303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586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BA574-BE03-AC3D-EE8C-8F8771735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270630" cy="1325563"/>
          </a:xfrm>
          <a:solidFill>
            <a:srgbClr val="66CCFF">
              <a:alpha val="40000"/>
            </a:srgbClr>
          </a:solidFill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 Source Code/Fuzz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7619A-C547-FF68-839C-477BB4048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06295"/>
          </a:xfrm>
          <a:solidFill>
            <a:srgbClr val="66CCFF">
              <a:alpha val="20000"/>
            </a:srgbClr>
          </a:solidFill>
        </p:spPr>
        <p:txBody>
          <a:bodyPr/>
          <a:lstStyle/>
          <a:p>
            <a:r>
              <a:rPr lang="en-US" dirty="0"/>
              <a:t>Use automated vulnerability scanning tools to monitor the source code.</a:t>
            </a:r>
          </a:p>
          <a:p>
            <a:r>
              <a:rPr lang="en-US" dirty="0"/>
              <a:t>Require fuzz testing of the code to make sure that it holds up to security standards before being pushed to the repository.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35998-6160-BB3A-EB0C-3C12F4F1A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845" y="3785280"/>
            <a:ext cx="4344151" cy="288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433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64FBF-2EDC-EC32-A425-8C2C621A2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30419" cy="1325563"/>
          </a:xfrm>
          <a:solidFill>
            <a:srgbClr val="66CCFF">
              <a:alpha val="40000"/>
            </a:srgbClr>
          </a:solidFill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Prevent Vulnerable Code in 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249E6-8E79-2FA2-390D-5F1948E43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1530" y="1825625"/>
            <a:ext cx="5632269" cy="3401983"/>
          </a:xfrm>
          <a:solidFill>
            <a:srgbClr val="66CCFF">
              <a:alpha val="20000"/>
            </a:srgbClr>
          </a:solidFill>
        </p:spPr>
        <p:txBody>
          <a:bodyPr/>
          <a:lstStyle/>
          <a:p>
            <a:r>
              <a:rPr lang="en-US" dirty="0"/>
              <a:t>Define and maintain a code review process. </a:t>
            </a:r>
          </a:p>
          <a:p>
            <a:r>
              <a:rPr lang="en-US" dirty="0"/>
              <a:t>Fix issues before merging into the main branch.</a:t>
            </a:r>
          </a:p>
          <a:p>
            <a:r>
              <a:rPr lang="en-US" dirty="0"/>
              <a:t>Make sure that no one developer can push merge code without it being reviewed.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8EE68D-5CFF-CE48-43C6-C77476C4D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44" y="2136986"/>
            <a:ext cx="4612222" cy="296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42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A1884-4BDD-004E-5DF3-F053824AA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698630" cy="1325563"/>
          </a:xfrm>
          <a:solidFill>
            <a:srgbClr val="66CCFF">
              <a:alpha val="40000"/>
            </a:srgbClr>
          </a:solidFill>
        </p:spPr>
        <p:txBody>
          <a:bodyPr/>
          <a:lstStyle/>
          <a:p>
            <a:r>
              <a:rPr lang="en-US" dirty="0"/>
              <a:t>Resources: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B4DC5-516C-6321-D03F-4EFEB1954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https://checkmarx.com/blog/supply-chain-security/repository-health-monitoring-part-2-essential-practices-for-secure-repositories/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https://snyk.io/articles/securing-source-code-repositories/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513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1237</TotalTime>
  <Words>242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Security Controls in Shared Source Code Repositories</vt:lpstr>
      <vt:lpstr>Secure Identities</vt:lpstr>
      <vt:lpstr>Sign and Authenticate Code Commits</vt:lpstr>
      <vt:lpstr>Keep Secrets… Secret</vt:lpstr>
      <vt:lpstr>Source Code Protection/Branch Protection</vt:lpstr>
      <vt:lpstr>Monitor Source Code/Fuzz Test</vt:lpstr>
      <vt:lpstr>Prevent Vulnerable Code in Production</vt:lpstr>
      <vt:lpstr>Resources: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Fryer</dc:creator>
  <cp:lastModifiedBy>Daniel Fryer</cp:lastModifiedBy>
  <cp:revision>3</cp:revision>
  <dcterms:created xsi:type="dcterms:W3CDTF">2026-10-02T20:18:28Z</dcterms:created>
  <dcterms:modified xsi:type="dcterms:W3CDTF">2026-10-04T13:34:25Z</dcterms:modified>
</cp:coreProperties>
</file>