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56" d="100"/>
          <a:sy n="56" d="100"/>
        </p:scale>
        <p:origin x="72" y="20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45E0D-952A-6ADD-ED6F-A56CF6CE89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695A2D-EBF9-6A45-9005-ECE7672E71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CF778-86AF-116A-1F26-248D9CC05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BEA46-9DA3-4783-91CC-1F25EDCA231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65737-CC02-130E-40A5-99AC0D473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83EB5-51D9-1921-9904-1897B4260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E8012-E3C4-4B5F-93A6-F2BF8B5636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075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92F35-6E9B-80F0-3EE9-23FC3D4FA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B7428-047A-4DD9-458C-96A721FBF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D2675-33A6-9C75-4C0E-AF9D64870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BEA46-9DA3-4783-91CC-1F25EDCA231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6D4BD-74B8-B072-891D-EF32D1890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8207E3-5D64-C000-4251-3695A0936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E8012-E3C4-4B5F-93A6-F2BF8B5636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858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8C471-E606-665B-0BB9-47C5C4A6F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076ECF-E4AD-D5ED-222D-6EAC3720C8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7C854-1323-E811-AA99-95FDFCE5C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BEA46-9DA3-4783-91CC-1F25EDCA231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FEC07-1381-D96F-D39E-C078FE414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1A6EA-B5E3-5B6B-9408-EB2B59730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E8012-E3C4-4B5F-93A6-F2BF8B5636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095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DE6CE-6C10-8B01-E435-672E8C1A1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55B63-B8CE-6B0C-2952-EE6AF7FF71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E3B375-8734-4C5D-E9C3-38BC954ACD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DCBB3E-194C-EA78-976A-835CC0829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BEA46-9DA3-4783-91CC-1F25EDCA231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247031-7493-FD83-3804-F5F7BC633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74F398-21A9-B756-39DB-8CA7A7527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E8012-E3C4-4B5F-93A6-F2BF8B5636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740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493BD-29EC-2393-ED24-CA80D9403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8C9C39-9FBF-2455-0D8F-0A4EAEB91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5E97C3-2B61-A068-FF73-C14C5FD3C5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13598F-8A93-0C37-8ECB-58C1A18C41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9FDF21-E99F-1E13-C265-D9EA595EEF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64A207-1D37-5DB1-391B-296C63213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BEA46-9DA3-4783-91CC-1F25EDCA231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1B676C-BD57-B8CB-7236-A17B24CCC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B2BB98-E61B-CF3A-1BB1-E3EBA4814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E8012-E3C4-4B5F-93A6-F2BF8B5636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896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2B3DD-01F9-0837-E641-1870A1485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C84C80-5265-22CC-E1E7-905C99702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BEA46-9DA3-4783-91CC-1F25EDCA231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44CDB4-3205-E454-3B27-DA88C2EFB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0B72B3-7952-C7E8-2175-613ABB1FF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E8012-E3C4-4B5F-93A6-F2BF8B5636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00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742F3F-D9BA-E761-E148-70D402BD4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BEA46-9DA3-4783-91CC-1F25EDCA231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57ED00-BB8C-BF8F-8991-EAC65F67C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ED72D-57E3-27FE-7672-2F86F67BC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E8012-E3C4-4B5F-93A6-F2BF8B5636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046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15F79-C3DE-696C-EA97-28F91218D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76875-2321-7870-ED84-36DB2DE91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80112B-D416-75CC-132D-8E77966594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6F4272-557A-4FCF-43AA-C62655502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BEA46-9DA3-4783-91CC-1F25EDCA231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42298F-527C-EE68-A82A-8307D8C69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0B37C5-7090-4707-136A-BA74D85A9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E8012-E3C4-4B5F-93A6-F2BF8B5636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315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7AEFC-0452-2187-B363-DBA15B90A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0AA0D6-25EB-C099-1F6D-F2BBA59593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C7B4BB-FCF6-90C3-FF37-1679FCDAD7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22C814-EF84-F0E7-0CAE-2AB7B5E74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BEA46-9DA3-4783-91CC-1F25EDCA231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F83687-7005-96B2-236A-A3C1DA685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71B7F1-2028-B895-1551-ABD95290C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E8012-E3C4-4B5F-93A6-F2BF8B5636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92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10FCF-94F8-13CE-11FE-EF87B1CC5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B9B44F-5E25-1228-9E78-C9B6E7B55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4853E-82FD-8C63-9AAA-6E5646271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BEA46-9DA3-4783-91CC-1F25EDCA231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9EDDA-AB50-411A-6049-0A778AE90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CDFC4-5CC8-527F-A227-24D9642BD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E8012-E3C4-4B5F-93A6-F2BF8B5636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174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1B3A14-961F-A45C-66E1-1666C3DE65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1E4F17-8603-941D-943C-BB2C9999DA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A3E35-78AD-6C92-26F9-BD8A95E43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BEA46-9DA3-4783-91CC-1F25EDCA231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7419D-A2BB-8E7B-DBD2-F0736800D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E06B9-02A7-FDE0-EA36-C1DF45749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E8012-E3C4-4B5F-93A6-F2BF8B5636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766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3DD424-D0F7-2990-862B-E8BF9ED90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8914C6-FCA4-BE9B-ECE9-B863E9B16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F0294-7F00-8695-0336-DB578D5EB0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BEA46-9DA3-4783-91CC-1F25EDCA2315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12074-9CD8-4004-FE6C-62153CD37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63C41-5971-F12F-C6BD-7153348C4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E8012-E3C4-4B5F-93A6-F2BF8B5636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212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DE605-DEB6-90E3-2779-3C7F1A291F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964" y="2484934"/>
            <a:ext cx="4232299" cy="1052949"/>
          </a:xfrm>
          <a:solidFill>
            <a:schemeClr val="tx1"/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Just Culture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A848ED-D0C9-CBE3-FDEB-35940BA5EA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Daniel Fryer</a:t>
            </a:r>
          </a:p>
          <a:p>
            <a:r>
              <a:rPr lang="en-US" dirty="0"/>
              <a:t>Assignment 8.2</a:t>
            </a:r>
          </a:p>
          <a:p>
            <a:r>
              <a:rPr lang="en-US" dirty="0"/>
              <a:t>9/26/2026</a:t>
            </a:r>
          </a:p>
        </p:txBody>
      </p:sp>
    </p:spTree>
    <p:extLst>
      <p:ext uri="{BB962C8B-B14F-4D97-AF65-F5344CB8AC3E}">
        <p14:creationId xmlns:p14="http://schemas.microsoft.com/office/powerpoint/2010/main" val="3229533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tile tx="0" ty="0" sx="100000" sy="100000" flip="none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7F76F-423F-6D97-5ECA-309FEB5C4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34679" cy="1393873"/>
          </a:xfrm>
          <a:solidFill>
            <a:schemeClr val="tx1"/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What is a Just Culture?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B33F8-2D09-EF5A-3559-55784E9B6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a way that promotes a questioning attitude.</a:t>
            </a:r>
          </a:p>
          <a:p>
            <a:r>
              <a:rPr lang="en-US" dirty="0"/>
              <a:t>Employees feel comfortable to report safety-related information.</a:t>
            </a:r>
          </a:p>
          <a:p>
            <a:r>
              <a:rPr lang="en-US" dirty="0"/>
              <a:t>Fosters both personal accountability and corporate self-regulations.</a:t>
            </a:r>
          </a:p>
          <a:p>
            <a:r>
              <a:rPr lang="en-US" dirty="0"/>
              <a:t>The culture supports an environment that uses mistakes as learning event.</a:t>
            </a:r>
          </a:p>
        </p:txBody>
      </p:sp>
    </p:spTree>
    <p:extLst>
      <p:ext uri="{BB962C8B-B14F-4D97-AF65-F5344CB8AC3E}">
        <p14:creationId xmlns:p14="http://schemas.microsoft.com/office/powerpoint/2010/main" val="231989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9251748-EC48-483A-E6B4-39C8913B83C6}"/>
              </a:ext>
            </a:extLst>
          </p:cNvPr>
          <p:cNvSpPr/>
          <p:nvPr/>
        </p:nvSpPr>
        <p:spPr>
          <a:xfrm>
            <a:off x="3924300" y="2527300"/>
            <a:ext cx="3886200" cy="1422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JUST CULTURE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CCA58C1-B833-71F3-06E8-0CA7A71CECE6}"/>
              </a:ext>
            </a:extLst>
          </p:cNvPr>
          <p:cNvSpPr/>
          <p:nvPr/>
        </p:nvSpPr>
        <p:spPr>
          <a:xfrm>
            <a:off x="857250" y="1657350"/>
            <a:ext cx="2692400" cy="11049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Cultural resistance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1414D60-90B9-41A1-8CD5-EAF387A0828D}"/>
              </a:ext>
            </a:extLst>
          </p:cNvPr>
          <p:cNvSpPr/>
          <p:nvPr/>
        </p:nvSpPr>
        <p:spPr>
          <a:xfrm>
            <a:off x="4749800" y="552450"/>
            <a:ext cx="2692400" cy="11049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Fear of retribution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6190370-CDA4-6393-3B9A-357F4B939CC3}"/>
              </a:ext>
            </a:extLst>
          </p:cNvPr>
          <p:cNvSpPr/>
          <p:nvPr/>
        </p:nvSpPr>
        <p:spPr>
          <a:xfrm>
            <a:off x="8458200" y="1689100"/>
            <a:ext cx="2692400" cy="110490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Lack of Trust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9C09397-D8B2-3E5A-911E-A944F6F6E958}"/>
              </a:ext>
            </a:extLst>
          </p:cNvPr>
          <p:cNvSpPr/>
          <p:nvPr/>
        </p:nvSpPr>
        <p:spPr>
          <a:xfrm>
            <a:off x="7366000" y="4286251"/>
            <a:ext cx="2692400" cy="1104900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Blame-oriented culture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6C0824C-ADC2-877E-7633-EB3A7A1F8025}"/>
              </a:ext>
            </a:extLst>
          </p:cNvPr>
          <p:cNvSpPr/>
          <p:nvPr/>
        </p:nvSpPr>
        <p:spPr>
          <a:xfrm>
            <a:off x="1435100" y="4235450"/>
            <a:ext cx="2692400" cy="110490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Legal and regulatory challenges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80771C-0328-C765-1971-98488C39AFE1}"/>
              </a:ext>
            </a:extLst>
          </p:cNvPr>
          <p:cNvSpPr txBox="1"/>
          <p:nvPr/>
        </p:nvSpPr>
        <p:spPr>
          <a:xfrm>
            <a:off x="317500" y="552450"/>
            <a:ext cx="4221092" cy="523220"/>
          </a:xfrm>
          <a:prstGeom prst="rect">
            <a:avLst/>
          </a:prstGeom>
          <a:solidFill>
            <a:schemeClr val="accent3"/>
          </a:solidFill>
        </p:spPr>
        <p:txBody>
          <a:bodyPr wrap="none" rtlCol="0">
            <a:spAutoFit/>
          </a:bodyPr>
          <a:lstStyle/>
          <a:p>
            <a:r>
              <a:rPr lang="en-US" sz="2800" b="1" dirty="0"/>
              <a:t>What Blocks a Just Culture:</a:t>
            </a:r>
          </a:p>
        </p:txBody>
      </p:sp>
    </p:spTree>
    <p:extLst>
      <p:ext uri="{BB962C8B-B14F-4D97-AF65-F5344CB8AC3E}">
        <p14:creationId xmlns:p14="http://schemas.microsoft.com/office/powerpoint/2010/main" val="1133804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EBAC2-2C4A-28BF-D55B-11D3C7ABA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021452" cy="1282191"/>
          </a:xfrm>
          <a:solidFill>
            <a:schemeClr val="accent1"/>
          </a:solidFill>
        </p:spPr>
        <p:txBody>
          <a:bodyPr/>
          <a:lstStyle/>
          <a:p>
            <a:r>
              <a:rPr lang="en-US" dirty="0"/>
              <a:t>Obstacle - Fear of Retribution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1D258-CE49-144C-7CB9-D0860D90D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38700" cy="4351338"/>
          </a:xfrm>
        </p:spPr>
        <p:txBody>
          <a:bodyPr/>
          <a:lstStyle/>
          <a:p>
            <a:r>
              <a:rPr lang="en-US" dirty="0"/>
              <a:t>People fear bring up or reporting incident because of negative consequences.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C984AA-886E-2D1E-4709-F8D705035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59" y="2762771"/>
            <a:ext cx="5158265" cy="341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596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0F753-81D5-D580-0404-AD94809C9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527699" cy="1254270"/>
          </a:xfrm>
          <a:solidFill>
            <a:schemeClr val="accent6"/>
          </a:solidFill>
        </p:spPr>
        <p:txBody>
          <a:bodyPr/>
          <a:lstStyle/>
          <a:p>
            <a:r>
              <a:rPr lang="en-US" dirty="0"/>
              <a:t>Obstacle – Lack of Trust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84282-8742-1D34-678E-EBFDA3AB6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00" y="1803400"/>
            <a:ext cx="5410200" cy="4373563"/>
          </a:xfrm>
        </p:spPr>
        <p:txBody>
          <a:bodyPr/>
          <a:lstStyle/>
          <a:p>
            <a:r>
              <a:rPr lang="en-US" dirty="0"/>
              <a:t>Lack of trust may cause a lack of open communication. </a:t>
            </a:r>
          </a:p>
          <a:p>
            <a:r>
              <a:rPr lang="en-US" dirty="0"/>
              <a:t>This may also reduce the team's ability to collaborate and may cause resentment between teams.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80AD67-6199-4D67-74E5-C0FF0E68B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803401"/>
            <a:ext cx="542925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670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CD284-6E2C-8074-3DC3-E8DB005F1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274576" cy="1400854"/>
          </a:xfrm>
          <a:solidFill>
            <a:srgbClr val="7030A0"/>
          </a:solidFill>
        </p:spPr>
        <p:txBody>
          <a:bodyPr/>
          <a:lstStyle/>
          <a:p>
            <a:r>
              <a:rPr lang="en-US" dirty="0"/>
              <a:t>Obstacle – Blame-Oriented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DB5A6-82A8-560C-1167-7A5635AEB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87575"/>
          </a:xfrm>
        </p:spPr>
        <p:txBody>
          <a:bodyPr/>
          <a:lstStyle/>
          <a:p>
            <a:r>
              <a:rPr lang="en-US" dirty="0"/>
              <a:t>If a business goes straight to blaming people for mistakes instead of learning the whys it may stop people from reporting or even hiding the issues.</a:t>
            </a:r>
          </a:p>
          <a:p>
            <a:r>
              <a:rPr lang="en-US" dirty="0"/>
              <a:t>This could not only cause ill will it could cause more security and bugs to show in your applications and infrastructure.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1DBA39-BEFF-C2DD-79F8-A43864C00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3714" y="4148137"/>
            <a:ext cx="3684571" cy="2474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557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D1827-9F4F-DFE5-EE49-D6DB7097F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08811" cy="1325563"/>
          </a:xfrm>
          <a:solidFill>
            <a:schemeClr val="accent4"/>
          </a:solidFill>
        </p:spPr>
        <p:txBody>
          <a:bodyPr/>
          <a:lstStyle/>
          <a:p>
            <a:r>
              <a:rPr lang="en-US" dirty="0"/>
              <a:t>Obstacle – Legal and regulatory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4B1E9-2D47-454A-9FC9-185B5077F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4600" y="1825625"/>
            <a:ext cx="5029200" cy="3216275"/>
          </a:xfrm>
        </p:spPr>
        <p:txBody>
          <a:bodyPr>
            <a:normAutofit/>
          </a:bodyPr>
          <a:lstStyle/>
          <a:p>
            <a:r>
              <a:rPr lang="en-US" dirty="0"/>
              <a:t>The different laws and legal frameworks can pose challenges to fully implement a Just Culture in a workplace.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8BACE4-9D9A-B9B7-C6F2-180E522B5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99" y="2971799"/>
            <a:ext cx="5314095" cy="352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601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BF367-21B8-A6E1-066E-4222DF78B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860908" cy="1325563"/>
          </a:xfrm>
          <a:solidFill>
            <a:schemeClr val="accent2"/>
          </a:solidFill>
        </p:spPr>
        <p:txBody>
          <a:bodyPr/>
          <a:lstStyle/>
          <a:p>
            <a:r>
              <a:rPr lang="en-US" dirty="0"/>
              <a:t>Obstacle – Cultural resistance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027A3-AA76-E07A-1EA9-150E88291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30800" cy="4206875"/>
          </a:xfrm>
        </p:spPr>
        <p:txBody>
          <a:bodyPr/>
          <a:lstStyle/>
          <a:p>
            <a:r>
              <a:rPr lang="en-US" dirty="0"/>
              <a:t>Existing culture is hard to change. </a:t>
            </a:r>
          </a:p>
          <a:p>
            <a:r>
              <a:rPr lang="en-US" dirty="0"/>
              <a:t>Leadership is resistant to change and underlings are not willing to push a culture change.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F38717-5F3E-C8EC-329E-6862EFC1C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494" y="2806699"/>
            <a:ext cx="5548448" cy="3728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724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BBA42-AE6D-C5F1-E2DE-7F9710380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94850" cy="1325563"/>
          </a:xfrm>
          <a:solidFill>
            <a:schemeClr val="accent3"/>
          </a:solidFill>
        </p:spPr>
        <p:txBody>
          <a:bodyPr/>
          <a:lstStyle/>
          <a:p>
            <a:r>
              <a:rPr lang="en-US" dirty="0"/>
              <a:t>Reducing the Barriers and Implementation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B37F9-8872-65E4-79E4-A05CE1608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 clear behavior-based standards and make sure to apply them consistently to everyone in the company.</a:t>
            </a:r>
          </a:p>
          <a:p>
            <a:r>
              <a:rPr lang="en-US" dirty="0"/>
              <a:t>Train leaders and then the employees and build the trust between the different levels of authority.</a:t>
            </a:r>
          </a:p>
          <a:p>
            <a:r>
              <a:rPr lang="en-US" dirty="0"/>
              <a:t>Make the reporting simple and confidential.</a:t>
            </a:r>
          </a:p>
          <a:p>
            <a:r>
              <a:rPr lang="en-US" dirty="0"/>
              <a:t>Close feedback loop share what is found when mistakes happen so everyone can learn.</a:t>
            </a:r>
          </a:p>
          <a:p>
            <a:r>
              <a:rPr lang="en-US" dirty="0"/>
              <a:t>Implementation is an ongoing culture change not a one and done rollout.</a:t>
            </a:r>
          </a:p>
        </p:txBody>
      </p:sp>
    </p:spTree>
    <p:extLst>
      <p:ext uri="{BB962C8B-B14F-4D97-AF65-F5344CB8AC3E}">
        <p14:creationId xmlns:p14="http://schemas.microsoft.com/office/powerpoint/2010/main" val="3948178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360BE-6189-A600-C114-55D2956A2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2693758" cy="1325563"/>
          </a:xfrm>
          <a:solidFill>
            <a:schemeClr val="accent3"/>
          </a:solidFill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A511A-3D80-E453-EBE6-EA8A86A9D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https://justculture.be/frequently-asked-questions-faqs/</a:t>
            </a:r>
          </a:p>
        </p:txBody>
      </p:sp>
    </p:spTree>
    <p:extLst>
      <p:ext uri="{BB962C8B-B14F-4D97-AF65-F5344CB8AC3E}">
        <p14:creationId xmlns:p14="http://schemas.microsoft.com/office/powerpoint/2010/main" val="3468064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1183</TotalTime>
  <Words>309</Words>
  <Application>Microsoft Office PowerPoint</Application>
  <PresentationFormat>Widescreen</PresentationFormat>
  <Paragraphs>37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Just Culture</vt:lpstr>
      <vt:lpstr>What is a Just Culture?</vt:lpstr>
      <vt:lpstr>PowerPoint Presentation</vt:lpstr>
      <vt:lpstr>Obstacle - Fear of Retribution</vt:lpstr>
      <vt:lpstr>Obstacle – Lack of Trust</vt:lpstr>
      <vt:lpstr>Obstacle – Blame-Oriented </vt:lpstr>
      <vt:lpstr>Obstacle – Legal and regulatory challenges</vt:lpstr>
      <vt:lpstr>Obstacle – Cultural resistance</vt:lpstr>
      <vt:lpstr>Reducing the Barriers and Implementation 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Fryer</dc:creator>
  <cp:lastModifiedBy>Daniel Fryer</cp:lastModifiedBy>
  <cp:revision>2</cp:revision>
  <dcterms:created xsi:type="dcterms:W3CDTF">2026-09-25T23:52:06Z</dcterms:created>
  <dcterms:modified xsi:type="dcterms:W3CDTF">2026-09-26T19:35:59Z</dcterms:modified>
</cp:coreProperties>
</file>